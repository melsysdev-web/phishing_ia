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5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11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7589520" y="1005840"/>
            <a:ext cx="4480560" cy="4480560"/>
          </a:xfrm>
          <a:prstGeom prst="arc">
            <a:avLst>
              <a:gd name="adj1" fmla="val 12000000"/>
              <a:gd name="adj2" fmla="val 20400000"/>
            </a:avLst>
          </a:prstGeom>
          <a:ln w="177800">
            <a:solidFill>
              <a:srgbClr val="0F6B5C"/>
            </a:solidFill>
            <a:prstDash val="solid"/>
          </a:ln>
        </p:spPr>
        <p:txBody>
          <a:bodyPr/>
          <a:lstStyle/>
          <a:p>
            <a:endParaRPr lang="es-SV"/>
          </a:p>
        </p:txBody>
      </p:sp>
      <p:sp>
        <p:nvSpPr>
          <p:cNvPr id="3" name="Shape 1"/>
          <p:cNvSpPr/>
          <p:nvPr/>
        </p:nvSpPr>
        <p:spPr>
          <a:xfrm>
            <a:off x="7982712" y="1399032"/>
            <a:ext cx="3694176" cy="3694176"/>
          </a:xfrm>
          <a:prstGeom prst="arc">
            <a:avLst>
              <a:gd name="adj1" fmla="val 12000000"/>
              <a:gd name="adj2" fmla="val 20400000"/>
            </a:avLst>
          </a:prstGeom>
          <a:ln w="127000">
            <a:solidFill>
              <a:srgbClr val="2FA66A"/>
            </a:solidFill>
            <a:prstDash val="solid"/>
          </a:ln>
        </p:spPr>
        <p:txBody>
          <a:bodyPr/>
          <a:lstStyle/>
          <a:p>
            <a:endParaRPr lang="es-SV"/>
          </a:p>
        </p:txBody>
      </p:sp>
      <p:sp>
        <p:nvSpPr>
          <p:cNvPr id="4" name="Shape 2"/>
          <p:cNvSpPr/>
          <p:nvPr/>
        </p:nvSpPr>
        <p:spPr>
          <a:xfrm>
            <a:off x="9372600" y="2788920"/>
            <a:ext cx="914400" cy="914400"/>
          </a:xfrm>
          <a:prstGeom prst="ellipse">
            <a:avLst/>
          </a:prstGeom>
          <a:solidFill>
            <a:srgbClr val="F6F8FA"/>
          </a:solidFill>
          <a:ln/>
        </p:spPr>
        <p:txBody>
          <a:bodyPr/>
          <a:lstStyle/>
          <a:p>
            <a:endParaRPr lang="es-SV"/>
          </a:p>
        </p:txBody>
      </p:sp>
      <p:sp>
        <p:nvSpPr>
          <p:cNvPr id="5" name="Text 3"/>
          <p:cNvSpPr/>
          <p:nvPr/>
        </p:nvSpPr>
        <p:spPr>
          <a:xfrm>
            <a:off x="9372600" y="2788920"/>
            <a:ext cx="914400" cy="914400"/>
          </a:xfrm>
          <a:prstGeom prst="rect">
            <a:avLst/>
          </a:prstGeom>
          <a:noFill/>
          <a:ln/>
        </p:spPr>
        <p:txBody>
          <a:bodyPr wrap="square" rtlCol="0" anchor="ctr"/>
          <a:lstStyle/>
          <a:p>
            <a:pPr marL="0" indent="0" algn="ctr">
              <a:buNone/>
            </a:pPr>
            <a:r>
              <a:rPr lang="en-US" sz="2600" b="1" dirty="0">
                <a:solidFill>
                  <a:srgbClr val="0B1F3A"/>
                </a:solidFill>
                <a:latin typeface="Cambria" pitchFamily="34" charset="0"/>
                <a:ea typeface="Cambria" pitchFamily="34" charset="-122"/>
                <a:cs typeface="Cambria" pitchFamily="34" charset="-120"/>
              </a:rPr>
              <a:t>87</a:t>
            </a:r>
            <a:endParaRPr lang="en-US" sz="2600" dirty="0"/>
          </a:p>
        </p:txBody>
      </p:sp>
      <p:sp>
        <p:nvSpPr>
          <p:cNvPr id="6" name="Text 4"/>
          <p:cNvSpPr/>
          <p:nvPr/>
        </p:nvSpPr>
        <p:spPr>
          <a:xfrm>
            <a:off x="640080" y="1371600"/>
            <a:ext cx="8229600" cy="365760"/>
          </a:xfrm>
          <a:prstGeom prst="rect">
            <a:avLst/>
          </a:prstGeom>
          <a:noFill/>
          <a:ln/>
        </p:spPr>
        <p:txBody>
          <a:bodyPr wrap="square" rtlCol="0" anchor="ctr"/>
          <a:lstStyle/>
          <a:p>
            <a:pPr marL="0" indent="0">
              <a:buNone/>
            </a:pPr>
            <a:r>
              <a:rPr lang="en-US" sz="1300" b="1" kern="0" spc="150" dirty="0">
                <a:solidFill>
                  <a:srgbClr val="2FA66A"/>
                </a:solidFill>
                <a:latin typeface="Calibri" pitchFamily="34" charset="0"/>
                <a:ea typeface="Calibri" pitchFamily="34" charset="-122"/>
                <a:cs typeface="Calibri" pitchFamily="34" charset="-120"/>
              </a:rPr>
              <a:t>PREESPECIALIZACIÓN EN DESARROLLO DE APLICACIONES CON IA — UGB</a:t>
            </a:r>
            <a:endParaRPr lang="en-US" sz="1300" dirty="0"/>
          </a:p>
        </p:txBody>
      </p:sp>
      <p:sp>
        <p:nvSpPr>
          <p:cNvPr id="7" name="Text 5"/>
          <p:cNvSpPr/>
          <p:nvPr/>
        </p:nvSpPr>
        <p:spPr>
          <a:xfrm>
            <a:off x="594360" y="1828800"/>
            <a:ext cx="8686800" cy="118872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AI Phishing Detector</a:t>
            </a:r>
            <a:endParaRPr lang="en-US" sz="4800" dirty="0"/>
          </a:p>
        </p:txBody>
      </p:sp>
      <p:sp>
        <p:nvSpPr>
          <p:cNvPr id="8" name="Text 6"/>
          <p:cNvSpPr/>
          <p:nvPr/>
        </p:nvSpPr>
        <p:spPr>
          <a:xfrm>
            <a:off x="640080" y="2880360"/>
            <a:ext cx="7772400" cy="548640"/>
          </a:xfrm>
          <a:prstGeom prst="rect">
            <a:avLst/>
          </a:prstGeom>
          <a:noFill/>
          <a:ln/>
        </p:spPr>
        <p:txBody>
          <a:bodyPr wrap="square" rtlCol="0" anchor="ctr"/>
          <a:lstStyle/>
          <a:p>
            <a:pPr marL="0" indent="0">
              <a:buNone/>
            </a:pPr>
            <a:r>
              <a:rPr lang="en-US" sz="1800" i="1" dirty="0">
                <a:solidFill>
                  <a:srgbClr val="C9D6E3"/>
                </a:solidFill>
                <a:latin typeface="Calibri" pitchFamily="34" charset="0"/>
                <a:ea typeface="Calibri" pitchFamily="34" charset="-122"/>
                <a:cs typeface="Calibri" pitchFamily="34" charset="-120"/>
              </a:rPr>
              <a:t>Detección de phishing en tiempo real con IA.</a:t>
            </a:r>
            <a:endParaRPr lang="en-US" sz="1800" dirty="0"/>
          </a:p>
        </p:txBody>
      </p:sp>
      <p:sp>
        <p:nvSpPr>
          <p:cNvPr id="9" name="Text 7"/>
          <p:cNvSpPr/>
          <p:nvPr/>
        </p:nvSpPr>
        <p:spPr>
          <a:xfrm>
            <a:off x="640080" y="4114800"/>
            <a:ext cx="2743200" cy="274320"/>
          </a:xfrm>
          <a:prstGeom prst="rect">
            <a:avLst/>
          </a:prstGeom>
          <a:noFill/>
          <a:ln/>
        </p:spPr>
        <p:txBody>
          <a:bodyPr wrap="square" rtlCol="0" anchor="ctr"/>
          <a:lstStyle/>
          <a:p>
            <a:pPr marL="0" indent="0">
              <a:buNone/>
            </a:pPr>
            <a:r>
              <a:rPr lang="en-US" sz="1100" b="1" kern="0" spc="150" dirty="0">
                <a:solidFill>
                  <a:srgbClr val="8FA3B8"/>
                </a:solidFill>
                <a:latin typeface="Calibri" pitchFamily="34" charset="0"/>
                <a:ea typeface="Calibri" pitchFamily="34" charset="-122"/>
                <a:cs typeface="Calibri" pitchFamily="34" charset="-120"/>
              </a:rPr>
              <a:t>Presentado por</a:t>
            </a:r>
            <a:endParaRPr lang="en-US" sz="1100" dirty="0"/>
          </a:p>
        </p:txBody>
      </p:sp>
      <p:sp>
        <p:nvSpPr>
          <p:cNvPr id="10" name="Text 8"/>
          <p:cNvSpPr/>
          <p:nvPr/>
        </p:nvSpPr>
        <p:spPr>
          <a:xfrm>
            <a:off x="640080" y="4434840"/>
            <a:ext cx="5486400" cy="1097280"/>
          </a:xfrm>
          <a:prstGeom prst="rect">
            <a:avLst/>
          </a:prstGeom>
          <a:noFill/>
          <a:ln/>
        </p:spPr>
        <p:txBody>
          <a:bodyPr wrap="square" rtlCol="0" anchor="ctr"/>
          <a:lstStyle/>
          <a:p>
            <a:pPr marL="0" indent="0">
              <a:lnSpc>
                <a:spcPct val="130000"/>
              </a:lnSpc>
              <a:buNone/>
            </a:pPr>
            <a:r>
              <a:rPr lang="en-US" sz="1600" dirty="0">
                <a:solidFill>
                  <a:srgbClr val="FFFFFF"/>
                </a:solidFill>
                <a:latin typeface="Calibri" pitchFamily="34" charset="0"/>
                <a:ea typeface="Calibri" pitchFamily="34" charset="-122"/>
                <a:cs typeface="Calibri" pitchFamily="34" charset="-120"/>
              </a:rPr>
              <a:t>— Melvin Santiago Rodriguez Mendoza.</a:t>
            </a:r>
            <a:endParaRPr lang="en-US" sz="1600" dirty="0"/>
          </a:p>
          <a:p>
            <a:pPr marL="0" indent="0">
              <a:lnSpc>
                <a:spcPct val="130000"/>
              </a:lnSpc>
              <a:buNone/>
            </a:pPr>
            <a:r>
              <a:rPr lang="en-US" sz="1600" dirty="0">
                <a:solidFill>
                  <a:srgbClr val="FFFFFF"/>
                </a:solidFill>
                <a:latin typeface="Calibri" pitchFamily="34" charset="0"/>
                <a:ea typeface="Calibri" pitchFamily="34" charset="-122"/>
                <a:cs typeface="Calibri" pitchFamily="34" charset="-120"/>
              </a:rPr>
              <a:t>— Katia Guadalupe Orellana Romeo.</a:t>
            </a:r>
            <a:endParaRPr lang="en-US" sz="1600" dirty="0"/>
          </a:p>
          <a:p>
            <a:pPr marL="0" indent="0">
              <a:lnSpc>
                <a:spcPct val="130000"/>
              </a:lnSpc>
              <a:buNone/>
            </a:pPr>
            <a:r>
              <a:rPr lang="en-US" sz="1600" dirty="0">
                <a:solidFill>
                  <a:srgbClr val="FFFFFF"/>
                </a:solidFill>
                <a:latin typeface="Calibri" pitchFamily="34" charset="0"/>
                <a:ea typeface="Calibri" pitchFamily="34" charset="-122"/>
                <a:cs typeface="Calibri" pitchFamily="34" charset="-120"/>
              </a:rPr>
              <a:t>— Eskin Onan Montiel Hernandez.</a:t>
            </a:r>
            <a:endParaRPr lang="en-US" sz="1600" dirty="0"/>
          </a:p>
        </p:txBody>
      </p:sp>
      <p:sp>
        <p:nvSpPr>
          <p:cNvPr id="11" name="Text 9"/>
          <p:cNvSpPr/>
          <p:nvPr/>
        </p:nvSpPr>
        <p:spPr>
          <a:xfrm>
            <a:off x="640080" y="6126480"/>
            <a:ext cx="4572000" cy="365760"/>
          </a:xfrm>
          <a:prstGeom prst="rect">
            <a:avLst/>
          </a:prstGeom>
          <a:noFill/>
          <a:ln/>
        </p:spPr>
        <p:txBody>
          <a:bodyPr wrap="square" rtlCol="0" anchor="ctr"/>
          <a:lstStyle/>
          <a:p>
            <a:pPr marL="0" indent="0">
              <a:buNone/>
            </a:pPr>
            <a:r>
              <a:rPr lang="en-US" sz="1200" dirty="0">
                <a:solidFill>
                  <a:srgbClr val="8FA3B8"/>
                </a:solidFill>
                <a:latin typeface="Calibri" pitchFamily="34" charset="0"/>
                <a:ea typeface="Calibri" pitchFamily="34" charset="-122"/>
                <a:cs typeface="Calibri" pitchFamily="34" charset="-120"/>
              </a:rPr>
              <a:t>San Miguel, 23 de Agosto de 2026</a:t>
            </a:r>
            <a:endParaRPr lang="en-US" sz="1200" dirty="0"/>
          </a:p>
        </p:txBody>
      </p:sp>
      <p:pic>
        <p:nvPicPr>
          <p:cNvPr id="13" name="Imagen 12">
            <a:extLst>
              <a:ext uri="{FF2B5EF4-FFF2-40B4-BE49-F238E27FC236}">
                <a16:creationId xmlns:a16="http://schemas.microsoft.com/office/drawing/2014/main" id="{3BAFCF94-EB01-4699-5DFC-D4A53440705A}"/>
              </a:ext>
            </a:extLst>
          </p:cNvPr>
          <p:cNvPicPr>
            <a:picLocks noChangeAspect="1"/>
          </p:cNvPicPr>
          <p:nvPr/>
        </p:nvPicPr>
        <p:blipFill>
          <a:blip r:embed="rId3"/>
          <a:stretch>
            <a:fillRect/>
          </a:stretch>
        </p:blipFill>
        <p:spPr>
          <a:xfrm>
            <a:off x="8696826" y="2298033"/>
            <a:ext cx="2265947" cy="22659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0F6B5C"/>
                </a:solidFill>
                <a:latin typeface="Calibri" pitchFamily="34" charset="0"/>
                <a:ea typeface="Calibri" pitchFamily="34" charset="-122"/>
                <a:cs typeface="Calibri" pitchFamily="34" charset="-120"/>
              </a:rPr>
              <a:t>INTRODUCCIÓN</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Un link sospechoso, y ninguna forma rápida de saberlo</a:t>
            </a:r>
            <a:endParaRPr lang="en-US" sz="3200" dirty="0"/>
          </a:p>
        </p:txBody>
      </p:sp>
      <p:sp>
        <p:nvSpPr>
          <p:cNvPr id="4" name="Shape 2"/>
          <p:cNvSpPr/>
          <p:nvPr/>
        </p:nvSpPr>
        <p:spPr>
          <a:xfrm>
            <a:off x="640080" y="1965960"/>
            <a:ext cx="3429000" cy="3566160"/>
          </a:xfrm>
          <a:prstGeom prst="roundRect">
            <a:avLst>
              <a:gd name="adj" fmla="val 2667"/>
            </a:avLst>
          </a:prstGeom>
          <a:solidFill>
            <a:srgbClr val="FFFFFF"/>
          </a:solidFill>
          <a:ln/>
          <a:effectLst>
            <a:outerShdw blurRad="101600" dist="38100" dir="5400000" algn="bl" rotWithShape="0">
              <a:srgbClr val="000000">
                <a:alpha val="12000"/>
              </a:srgbClr>
            </a:outerShdw>
          </a:effectLst>
        </p:spPr>
        <p:txBody>
          <a:bodyPr/>
          <a:lstStyle/>
          <a:p>
            <a:endParaRPr lang="es-SV"/>
          </a:p>
        </p:txBody>
      </p:sp>
      <p:sp>
        <p:nvSpPr>
          <p:cNvPr id="5" name="Shape 3"/>
          <p:cNvSpPr/>
          <p:nvPr/>
        </p:nvSpPr>
        <p:spPr>
          <a:xfrm>
            <a:off x="960120" y="2331720"/>
            <a:ext cx="822960" cy="822960"/>
          </a:xfrm>
          <a:prstGeom prst="ellipse">
            <a:avLst/>
          </a:prstGeom>
          <a:solidFill>
            <a:srgbClr val="0F6B5C"/>
          </a:solidFill>
          <a:ln/>
        </p:spPr>
        <p:txBody>
          <a:bodyPr/>
          <a:lstStyle/>
          <a:p>
            <a:endParaRPr lang="es-SV"/>
          </a:p>
        </p:txBody>
      </p:sp>
      <p:sp>
        <p:nvSpPr>
          <p:cNvPr id="6" name="Text 4"/>
          <p:cNvSpPr/>
          <p:nvPr/>
        </p:nvSpPr>
        <p:spPr>
          <a:xfrm>
            <a:off x="960120" y="233172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960120" y="3337560"/>
            <a:ext cx="2788920" cy="320040"/>
          </a:xfrm>
          <a:prstGeom prst="rect">
            <a:avLst/>
          </a:prstGeom>
          <a:noFill/>
          <a:ln/>
        </p:spPr>
        <p:txBody>
          <a:bodyPr wrap="square" rtlCol="0" anchor="ctr"/>
          <a:lstStyle/>
          <a:p>
            <a:pPr marL="0" indent="0">
              <a:buNone/>
            </a:pPr>
            <a:r>
              <a:rPr lang="en-US" sz="1200" b="1" kern="0" spc="100" dirty="0">
                <a:solidFill>
                  <a:srgbClr val="0B1F3A"/>
                </a:solidFill>
                <a:latin typeface="Calibri" pitchFamily="34" charset="0"/>
                <a:ea typeface="Calibri" pitchFamily="34" charset="-122"/>
                <a:cs typeface="Calibri" pitchFamily="34" charset="-120"/>
              </a:rPr>
              <a:t>EL VECTOR</a:t>
            </a:r>
            <a:endParaRPr lang="en-US" sz="1200" dirty="0"/>
          </a:p>
        </p:txBody>
      </p:sp>
      <p:sp>
        <p:nvSpPr>
          <p:cNvPr id="8" name="Text 6"/>
          <p:cNvSpPr/>
          <p:nvPr/>
        </p:nvSpPr>
        <p:spPr>
          <a:xfrm>
            <a:off x="960120" y="3703320"/>
            <a:ext cx="2788920" cy="1691640"/>
          </a:xfrm>
          <a:prstGeom prst="rect">
            <a:avLst/>
          </a:prstGeom>
          <a:noFill/>
          <a:ln/>
        </p:spPr>
        <p:txBody>
          <a:bodyPr wrap="square" rtlCol="0" anchor="ctr"/>
          <a:lstStyle/>
          <a:p>
            <a:pPr marL="0" indent="0">
              <a:lnSpc>
                <a:spcPct val="125000"/>
              </a:lnSpc>
              <a:buNone/>
            </a:pPr>
            <a:r>
              <a:rPr lang="en-US" sz="1350" dirty="0">
                <a:solidFill>
                  <a:srgbClr val="5B6B7A"/>
                </a:solidFill>
                <a:latin typeface="Calibri" pitchFamily="34" charset="0"/>
                <a:ea typeface="Calibri" pitchFamily="34" charset="-122"/>
                <a:cs typeface="Calibri" pitchFamily="34" charset="-120"/>
              </a:rPr>
              <a:t>Phishing: el ataque más común para robar credenciales — llega por correo, redes o mensajes.</a:t>
            </a:r>
            <a:endParaRPr lang="en-US" sz="1350" dirty="0"/>
          </a:p>
        </p:txBody>
      </p:sp>
      <p:sp>
        <p:nvSpPr>
          <p:cNvPr id="9" name="Shape 7"/>
          <p:cNvSpPr/>
          <p:nvPr/>
        </p:nvSpPr>
        <p:spPr>
          <a:xfrm>
            <a:off x="4343400" y="1965960"/>
            <a:ext cx="3429000" cy="3566160"/>
          </a:xfrm>
          <a:prstGeom prst="roundRect">
            <a:avLst>
              <a:gd name="adj" fmla="val 2667"/>
            </a:avLst>
          </a:prstGeom>
          <a:solidFill>
            <a:srgbClr val="FFFFFF"/>
          </a:solidFill>
          <a:ln/>
          <a:effectLst>
            <a:outerShdw blurRad="101600" dist="38100" dir="5400000" algn="bl" rotWithShape="0">
              <a:srgbClr val="000000">
                <a:alpha val="12000"/>
              </a:srgbClr>
            </a:outerShdw>
          </a:effectLst>
        </p:spPr>
        <p:txBody>
          <a:bodyPr/>
          <a:lstStyle/>
          <a:p>
            <a:endParaRPr lang="es-SV"/>
          </a:p>
        </p:txBody>
      </p:sp>
      <p:sp>
        <p:nvSpPr>
          <p:cNvPr id="10" name="Shape 8"/>
          <p:cNvSpPr/>
          <p:nvPr/>
        </p:nvSpPr>
        <p:spPr>
          <a:xfrm>
            <a:off x="4663440" y="2331720"/>
            <a:ext cx="822960" cy="822960"/>
          </a:xfrm>
          <a:prstGeom prst="ellipse">
            <a:avLst/>
          </a:prstGeom>
          <a:solidFill>
            <a:srgbClr val="2FA66A"/>
          </a:solidFill>
          <a:ln/>
        </p:spPr>
        <p:txBody>
          <a:bodyPr/>
          <a:lstStyle/>
          <a:p>
            <a:endParaRPr lang="es-SV"/>
          </a:p>
        </p:txBody>
      </p:sp>
      <p:sp>
        <p:nvSpPr>
          <p:cNvPr id="11" name="Text 9"/>
          <p:cNvSpPr/>
          <p:nvPr/>
        </p:nvSpPr>
        <p:spPr>
          <a:xfrm>
            <a:off x="4663440" y="233172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12" name="Text 10"/>
          <p:cNvSpPr/>
          <p:nvPr/>
        </p:nvSpPr>
        <p:spPr>
          <a:xfrm>
            <a:off x="4663440" y="3337560"/>
            <a:ext cx="2788920" cy="320040"/>
          </a:xfrm>
          <a:prstGeom prst="rect">
            <a:avLst/>
          </a:prstGeom>
          <a:noFill/>
          <a:ln/>
        </p:spPr>
        <p:txBody>
          <a:bodyPr wrap="square" rtlCol="0" anchor="ctr"/>
          <a:lstStyle/>
          <a:p>
            <a:pPr marL="0" indent="0">
              <a:buNone/>
            </a:pPr>
            <a:r>
              <a:rPr lang="en-US" sz="1200" b="1" kern="0" spc="100" dirty="0">
                <a:solidFill>
                  <a:srgbClr val="0B1F3A"/>
                </a:solidFill>
                <a:latin typeface="Calibri" pitchFamily="34" charset="0"/>
                <a:ea typeface="Calibri" pitchFamily="34" charset="-122"/>
                <a:cs typeface="Calibri" pitchFamily="34" charset="-120"/>
              </a:rPr>
              <a:t>EL USUARIO</a:t>
            </a:r>
            <a:endParaRPr lang="en-US" sz="1200" dirty="0"/>
          </a:p>
        </p:txBody>
      </p:sp>
      <p:sp>
        <p:nvSpPr>
          <p:cNvPr id="13" name="Text 11"/>
          <p:cNvSpPr/>
          <p:nvPr/>
        </p:nvSpPr>
        <p:spPr>
          <a:xfrm>
            <a:off x="4663440" y="3703320"/>
            <a:ext cx="2788920" cy="1691640"/>
          </a:xfrm>
          <a:prstGeom prst="rect">
            <a:avLst/>
          </a:prstGeom>
          <a:noFill/>
          <a:ln/>
        </p:spPr>
        <p:txBody>
          <a:bodyPr wrap="square" rtlCol="0" anchor="ctr"/>
          <a:lstStyle/>
          <a:p>
            <a:pPr marL="0" indent="0">
              <a:lnSpc>
                <a:spcPct val="125000"/>
              </a:lnSpc>
              <a:buNone/>
            </a:pPr>
            <a:r>
              <a:rPr lang="en-US" sz="1350" dirty="0">
                <a:solidFill>
                  <a:srgbClr val="5B6B7A"/>
                </a:solidFill>
                <a:latin typeface="Calibri" pitchFamily="34" charset="0"/>
                <a:ea typeface="Calibri" pitchFamily="34" charset="-122"/>
                <a:cs typeface="Calibri" pitchFamily="34" charset="-120"/>
              </a:rPr>
              <a:t>Persona común, sin conocimientos técnicos, que necesita una segunda opinión antes de confiar en un enlace.</a:t>
            </a:r>
            <a:endParaRPr lang="en-US" sz="1350" dirty="0"/>
          </a:p>
        </p:txBody>
      </p:sp>
      <p:sp>
        <p:nvSpPr>
          <p:cNvPr id="14" name="Shape 12"/>
          <p:cNvSpPr/>
          <p:nvPr/>
        </p:nvSpPr>
        <p:spPr>
          <a:xfrm>
            <a:off x="8046720" y="1965960"/>
            <a:ext cx="3429000" cy="3566160"/>
          </a:xfrm>
          <a:prstGeom prst="roundRect">
            <a:avLst>
              <a:gd name="adj" fmla="val 2667"/>
            </a:avLst>
          </a:prstGeom>
          <a:solidFill>
            <a:srgbClr val="FFFFFF"/>
          </a:solidFill>
          <a:ln/>
          <a:effectLst>
            <a:outerShdw blurRad="101600" dist="38100" dir="5400000" algn="bl" rotWithShape="0">
              <a:srgbClr val="000000">
                <a:alpha val="12000"/>
              </a:srgbClr>
            </a:outerShdw>
          </a:effectLst>
        </p:spPr>
        <p:txBody>
          <a:bodyPr/>
          <a:lstStyle/>
          <a:p>
            <a:endParaRPr lang="es-SV"/>
          </a:p>
        </p:txBody>
      </p:sp>
      <p:sp>
        <p:nvSpPr>
          <p:cNvPr id="15" name="Shape 13"/>
          <p:cNvSpPr/>
          <p:nvPr/>
        </p:nvSpPr>
        <p:spPr>
          <a:xfrm>
            <a:off x="8366760" y="2331720"/>
            <a:ext cx="822960" cy="822960"/>
          </a:xfrm>
          <a:prstGeom prst="ellipse">
            <a:avLst/>
          </a:prstGeom>
          <a:solidFill>
            <a:srgbClr val="E0A62E"/>
          </a:solidFill>
          <a:ln/>
        </p:spPr>
        <p:txBody>
          <a:bodyPr/>
          <a:lstStyle/>
          <a:p>
            <a:endParaRPr lang="es-SV"/>
          </a:p>
        </p:txBody>
      </p:sp>
      <p:sp>
        <p:nvSpPr>
          <p:cNvPr id="16" name="Text 14"/>
          <p:cNvSpPr/>
          <p:nvPr/>
        </p:nvSpPr>
        <p:spPr>
          <a:xfrm>
            <a:off x="8366760" y="233172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17" name="Text 15"/>
          <p:cNvSpPr/>
          <p:nvPr/>
        </p:nvSpPr>
        <p:spPr>
          <a:xfrm>
            <a:off x="8366760" y="3337560"/>
            <a:ext cx="2788920" cy="320040"/>
          </a:xfrm>
          <a:prstGeom prst="rect">
            <a:avLst/>
          </a:prstGeom>
          <a:noFill/>
          <a:ln/>
        </p:spPr>
        <p:txBody>
          <a:bodyPr wrap="square" rtlCol="0" anchor="ctr"/>
          <a:lstStyle/>
          <a:p>
            <a:pPr marL="0" indent="0">
              <a:buNone/>
            </a:pPr>
            <a:r>
              <a:rPr lang="en-US" sz="1200" b="1" kern="0" spc="100" dirty="0">
                <a:solidFill>
                  <a:srgbClr val="0B1F3A"/>
                </a:solidFill>
                <a:latin typeface="Calibri" pitchFamily="34" charset="0"/>
                <a:ea typeface="Calibri" pitchFamily="34" charset="-122"/>
                <a:cs typeface="Calibri" pitchFamily="34" charset="-120"/>
              </a:rPr>
              <a:t>LA RESPUESTA</a:t>
            </a:r>
            <a:endParaRPr lang="en-US" sz="1200" dirty="0"/>
          </a:p>
        </p:txBody>
      </p:sp>
      <p:sp>
        <p:nvSpPr>
          <p:cNvPr id="18" name="Text 16"/>
          <p:cNvSpPr/>
          <p:nvPr/>
        </p:nvSpPr>
        <p:spPr>
          <a:xfrm>
            <a:off x="8366760" y="3703320"/>
            <a:ext cx="2788920" cy="1691640"/>
          </a:xfrm>
          <a:prstGeom prst="rect">
            <a:avLst/>
          </a:prstGeom>
          <a:noFill/>
          <a:ln/>
        </p:spPr>
        <p:txBody>
          <a:bodyPr wrap="square" rtlCol="0" anchor="ctr"/>
          <a:lstStyle/>
          <a:p>
            <a:pPr marL="0" indent="0">
              <a:lnSpc>
                <a:spcPct val="125000"/>
              </a:lnSpc>
              <a:buNone/>
            </a:pPr>
            <a:r>
              <a:rPr lang="en-US" sz="1350" dirty="0">
                <a:solidFill>
                  <a:srgbClr val="5B6B7A"/>
                </a:solidFill>
                <a:latin typeface="Calibri" pitchFamily="34" charset="0"/>
                <a:ea typeface="Calibri" pitchFamily="34" charset="-122"/>
                <a:cs typeface="Calibri" pitchFamily="34" charset="-120"/>
              </a:rPr>
              <a:t>Veredicto explicable en 3–8 segundos, con las razones en lenguaje natural, no un código técnico.</a:t>
            </a:r>
            <a:endParaRPr lang="en-US" sz="1350" dirty="0"/>
          </a:p>
        </p:txBody>
      </p:sp>
      <p:sp>
        <p:nvSpPr>
          <p:cNvPr id="19" name="Shape 17"/>
          <p:cNvSpPr/>
          <p:nvPr/>
        </p:nvSpPr>
        <p:spPr>
          <a:xfrm>
            <a:off x="548640" y="6382512"/>
            <a:ext cx="128016" cy="128016"/>
          </a:xfrm>
          <a:prstGeom prst="ellipse">
            <a:avLst/>
          </a:prstGeom>
          <a:solidFill>
            <a:srgbClr val="0F6B5C"/>
          </a:solidFill>
          <a:ln/>
        </p:spPr>
        <p:txBody>
          <a:bodyPr/>
          <a:lstStyle/>
          <a:p>
            <a:endParaRPr lang="es-SV"/>
          </a:p>
        </p:txBody>
      </p:sp>
      <p:sp>
        <p:nvSpPr>
          <p:cNvPr id="20" name="Text 18"/>
          <p:cNvSpPr/>
          <p:nvPr/>
        </p:nvSpPr>
        <p:spPr>
          <a:xfrm>
            <a:off x="640080" y="6350749"/>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0F6B5C"/>
                </a:solidFill>
                <a:latin typeface="Calibri" pitchFamily="34" charset="0"/>
                <a:ea typeface="Calibri" pitchFamily="34" charset="-122"/>
                <a:cs typeface="Calibri" pitchFamily="34" charset="-120"/>
              </a:rPr>
              <a:t>INTRODUCCIÓN</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Del MVP a un pipeline multi-señal, sesión a sesión</a:t>
            </a:r>
            <a:endParaRPr lang="en-US" sz="3200" dirty="0"/>
          </a:p>
        </p:txBody>
      </p:sp>
      <p:sp>
        <p:nvSpPr>
          <p:cNvPr id="4" name="Shape 2"/>
          <p:cNvSpPr/>
          <p:nvPr/>
        </p:nvSpPr>
        <p:spPr>
          <a:xfrm>
            <a:off x="960120" y="2697480"/>
            <a:ext cx="9144000" cy="0"/>
          </a:xfrm>
          <a:prstGeom prst="line">
            <a:avLst/>
          </a:prstGeom>
          <a:noFill/>
          <a:ln w="38100">
            <a:solidFill>
              <a:srgbClr val="D8E0E8"/>
            </a:solidFill>
            <a:prstDash val="solid"/>
          </a:ln>
        </p:spPr>
        <p:txBody>
          <a:bodyPr/>
          <a:lstStyle/>
          <a:p>
            <a:endParaRPr lang="es-SV"/>
          </a:p>
        </p:txBody>
      </p:sp>
      <p:sp>
        <p:nvSpPr>
          <p:cNvPr id="5" name="Shape 3"/>
          <p:cNvSpPr/>
          <p:nvPr/>
        </p:nvSpPr>
        <p:spPr>
          <a:xfrm>
            <a:off x="640080" y="2377440"/>
            <a:ext cx="640080" cy="640080"/>
          </a:xfrm>
          <a:prstGeom prst="ellipse">
            <a:avLst/>
          </a:prstGeom>
          <a:solidFill>
            <a:srgbClr val="0F6B5C"/>
          </a:solidFill>
          <a:ln/>
        </p:spPr>
        <p:txBody>
          <a:bodyPr/>
          <a:lstStyle/>
          <a:p>
            <a:endParaRPr lang="es-SV"/>
          </a:p>
        </p:txBody>
      </p:sp>
      <p:sp>
        <p:nvSpPr>
          <p:cNvPr id="6" name="Text 4"/>
          <p:cNvSpPr/>
          <p:nvPr/>
        </p:nvSpPr>
        <p:spPr>
          <a:xfrm>
            <a:off x="640080" y="23774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7160" y="3154680"/>
            <a:ext cx="1645920" cy="365760"/>
          </a:xfrm>
          <a:prstGeom prst="rect">
            <a:avLst/>
          </a:prstGeom>
          <a:noFill/>
          <a:ln/>
        </p:spPr>
        <p:txBody>
          <a:bodyPr wrap="square"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MVP</a:t>
            </a:r>
            <a:endParaRPr lang="en-US" sz="1250" dirty="0"/>
          </a:p>
        </p:txBody>
      </p:sp>
      <p:sp>
        <p:nvSpPr>
          <p:cNvPr id="8" name="Text 6"/>
          <p:cNvSpPr/>
          <p:nvPr/>
        </p:nvSpPr>
        <p:spPr>
          <a:xfrm>
            <a:off x="137160" y="3520440"/>
            <a:ext cx="1645920" cy="640080"/>
          </a:xfrm>
          <a:prstGeom prst="rect">
            <a:avLst/>
          </a:prstGeom>
          <a:noFill/>
          <a:ln/>
        </p:spPr>
        <p:txBody>
          <a:bodyPr wrap="square" rtlCol="0" anchor="ctr"/>
          <a:lstStyle/>
          <a:p>
            <a:pPr marL="0" indent="0" algn="ctr">
              <a:buNone/>
            </a:pPr>
            <a:r>
              <a:rPr lang="en-US" sz="1050" dirty="0">
                <a:solidFill>
                  <a:srgbClr val="5B6B7A"/>
                </a:solidFill>
                <a:latin typeface="Calibri" pitchFamily="34" charset="0"/>
                <a:ea typeface="Calibri" pitchFamily="34" charset="-122"/>
                <a:cs typeface="Calibri" pitchFamily="34" charset="-120"/>
              </a:rPr>
              <a:t>Random Forest, 14 features</a:t>
            </a:r>
            <a:endParaRPr lang="en-US" sz="1050" dirty="0"/>
          </a:p>
        </p:txBody>
      </p:sp>
      <p:sp>
        <p:nvSpPr>
          <p:cNvPr id="9" name="Shape 7"/>
          <p:cNvSpPr/>
          <p:nvPr/>
        </p:nvSpPr>
        <p:spPr>
          <a:xfrm>
            <a:off x="2468880" y="2377440"/>
            <a:ext cx="640080" cy="640080"/>
          </a:xfrm>
          <a:prstGeom prst="ellipse">
            <a:avLst/>
          </a:prstGeom>
          <a:solidFill>
            <a:srgbClr val="0F6B5C"/>
          </a:solidFill>
          <a:ln/>
        </p:spPr>
        <p:txBody>
          <a:bodyPr/>
          <a:lstStyle/>
          <a:p>
            <a:endParaRPr lang="es-SV"/>
          </a:p>
        </p:txBody>
      </p:sp>
      <p:sp>
        <p:nvSpPr>
          <p:cNvPr id="10" name="Text 8"/>
          <p:cNvSpPr/>
          <p:nvPr/>
        </p:nvSpPr>
        <p:spPr>
          <a:xfrm>
            <a:off x="2468880" y="23774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965960" y="3154680"/>
            <a:ext cx="1645920" cy="365760"/>
          </a:xfrm>
          <a:prstGeom prst="rect">
            <a:avLst/>
          </a:prstGeom>
          <a:noFill/>
          <a:ln/>
        </p:spPr>
        <p:txBody>
          <a:bodyPr wrap="square"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RoBERTa + Fusión</a:t>
            </a:r>
            <a:endParaRPr lang="en-US" sz="1250" dirty="0"/>
          </a:p>
        </p:txBody>
      </p:sp>
      <p:sp>
        <p:nvSpPr>
          <p:cNvPr id="12" name="Text 10"/>
          <p:cNvSpPr/>
          <p:nvPr/>
        </p:nvSpPr>
        <p:spPr>
          <a:xfrm>
            <a:off x="1965960" y="3520440"/>
            <a:ext cx="1645920" cy="640080"/>
          </a:xfrm>
          <a:prstGeom prst="rect">
            <a:avLst/>
          </a:prstGeom>
          <a:noFill/>
          <a:ln/>
        </p:spPr>
        <p:txBody>
          <a:bodyPr wrap="square" rtlCol="0" anchor="ctr"/>
          <a:lstStyle/>
          <a:p>
            <a:pPr marL="0" indent="0" algn="ctr">
              <a:buNone/>
            </a:pPr>
            <a:r>
              <a:rPr lang="en-US" sz="1050" dirty="0">
                <a:solidFill>
                  <a:srgbClr val="5B6B7A"/>
                </a:solidFill>
                <a:latin typeface="Calibri" pitchFamily="34" charset="0"/>
                <a:ea typeface="Calibri" pitchFamily="34" charset="-122"/>
                <a:cs typeface="Calibri" pitchFamily="34" charset="-120"/>
              </a:rPr>
              <a:t>Segundo modelo de IA</a:t>
            </a:r>
            <a:endParaRPr lang="en-US" sz="1050" dirty="0"/>
          </a:p>
        </p:txBody>
      </p:sp>
      <p:sp>
        <p:nvSpPr>
          <p:cNvPr id="13" name="Shape 11"/>
          <p:cNvSpPr/>
          <p:nvPr/>
        </p:nvSpPr>
        <p:spPr>
          <a:xfrm>
            <a:off x="4297680" y="2377440"/>
            <a:ext cx="640080" cy="640080"/>
          </a:xfrm>
          <a:prstGeom prst="ellipse">
            <a:avLst/>
          </a:prstGeom>
          <a:solidFill>
            <a:srgbClr val="0F6B5C"/>
          </a:solidFill>
          <a:ln/>
        </p:spPr>
        <p:txBody>
          <a:bodyPr/>
          <a:lstStyle/>
          <a:p>
            <a:endParaRPr lang="es-SV"/>
          </a:p>
        </p:txBody>
      </p:sp>
      <p:sp>
        <p:nvSpPr>
          <p:cNvPr id="14" name="Text 12"/>
          <p:cNvSpPr/>
          <p:nvPr/>
        </p:nvSpPr>
        <p:spPr>
          <a:xfrm>
            <a:off x="4297680" y="23774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3794760" y="3154680"/>
            <a:ext cx="1645920" cy="365760"/>
          </a:xfrm>
          <a:prstGeom prst="rect">
            <a:avLst/>
          </a:prstGeom>
          <a:noFill/>
          <a:ln/>
        </p:spPr>
        <p:txBody>
          <a:bodyPr wrap="square"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Threat Intel</a:t>
            </a:r>
            <a:endParaRPr lang="en-US" sz="1250" dirty="0"/>
          </a:p>
        </p:txBody>
      </p:sp>
      <p:sp>
        <p:nvSpPr>
          <p:cNvPr id="16" name="Text 14"/>
          <p:cNvSpPr/>
          <p:nvPr/>
        </p:nvSpPr>
        <p:spPr>
          <a:xfrm>
            <a:off x="3794760" y="3520440"/>
            <a:ext cx="1645920" cy="640080"/>
          </a:xfrm>
          <a:prstGeom prst="rect">
            <a:avLst/>
          </a:prstGeom>
          <a:noFill/>
          <a:ln/>
        </p:spPr>
        <p:txBody>
          <a:bodyPr wrap="square" rtlCol="0" anchor="ctr"/>
          <a:lstStyle/>
          <a:p>
            <a:pPr marL="0" indent="0" algn="ctr">
              <a:buNone/>
            </a:pPr>
            <a:r>
              <a:rPr lang="en-US" sz="1050" dirty="0">
                <a:solidFill>
                  <a:srgbClr val="5B6B7A"/>
                </a:solidFill>
                <a:latin typeface="Calibri" pitchFamily="34" charset="0"/>
                <a:ea typeface="Calibri" pitchFamily="34" charset="-122"/>
                <a:cs typeface="Calibri" pitchFamily="34" charset="-120"/>
              </a:rPr>
              <a:t>3 APIs externas</a:t>
            </a:r>
            <a:endParaRPr lang="en-US" sz="1050" dirty="0"/>
          </a:p>
        </p:txBody>
      </p:sp>
      <p:sp>
        <p:nvSpPr>
          <p:cNvPr id="17" name="Shape 15"/>
          <p:cNvSpPr/>
          <p:nvPr/>
        </p:nvSpPr>
        <p:spPr>
          <a:xfrm>
            <a:off x="6126480" y="2377440"/>
            <a:ext cx="640080" cy="640080"/>
          </a:xfrm>
          <a:prstGeom prst="ellipse">
            <a:avLst/>
          </a:prstGeom>
          <a:solidFill>
            <a:srgbClr val="0F6B5C"/>
          </a:solidFill>
          <a:ln/>
        </p:spPr>
        <p:txBody>
          <a:bodyPr/>
          <a:lstStyle/>
          <a:p>
            <a:endParaRPr lang="es-SV"/>
          </a:p>
        </p:txBody>
      </p:sp>
      <p:sp>
        <p:nvSpPr>
          <p:cNvPr id="18" name="Text 16"/>
          <p:cNvSpPr/>
          <p:nvPr/>
        </p:nvSpPr>
        <p:spPr>
          <a:xfrm>
            <a:off x="6126480" y="23774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5623560" y="3154680"/>
            <a:ext cx="1645920" cy="365760"/>
          </a:xfrm>
          <a:prstGeom prst="rect">
            <a:avLst/>
          </a:prstGeom>
          <a:noFill/>
          <a:ln/>
        </p:spPr>
        <p:txBody>
          <a:bodyPr wrap="square"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Motor de riesgo</a:t>
            </a:r>
            <a:endParaRPr lang="en-US" sz="1250" dirty="0"/>
          </a:p>
        </p:txBody>
      </p:sp>
      <p:sp>
        <p:nvSpPr>
          <p:cNvPr id="20" name="Text 18"/>
          <p:cNvSpPr/>
          <p:nvPr/>
        </p:nvSpPr>
        <p:spPr>
          <a:xfrm>
            <a:off x="5623560" y="3520440"/>
            <a:ext cx="1645920" cy="640080"/>
          </a:xfrm>
          <a:prstGeom prst="rect">
            <a:avLst/>
          </a:prstGeom>
          <a:noFill/>
          <a:ln/>
        </p:spPr>
        <p:txBody>
          <a:bodyPr wrap="square" rtlCol="0" anchor="ctr"/>
          <a:lstStyle/>
          <a:p>
            <a:pPr marL="0" indent="0" algn="ctr">
              <a:buNone/>
            </a:pPr>
            <a:r>
              <a:rPr lang="en-US" sz="1050" dirty="0">
                <a:solidFill>
                  <a:srgbClr val="5B6B7A"/>
                </a:solidFill>
                <a:latin typeface="Calibri" pitchFamily="34" charset="0"/>
                <a:ea typeface="Calibri" pitchFamily="34" charset="-122"/>
                <a:cs typeface="Calibri" pitchFamily="34" charset="-120"/>
              </a:rPr>
              <a:t>Score 0–100 explicable</a:t>
            </a:r>
            <a:endParaRPr lang="en-US" sz="1050" dirty="0"/>
          </a:p>
        </p:txBody>
      </p:sp>
      <p:sp>
        <p:nvSpPr>
          <p:cNvPr id="21" name="Shape 19"/>
          <p:cNvSpPr/>
          <p:nvPr/>
        </p:nvSpPr>
        <p:spPr>
          <a:xfrm>
            <a:off x="7955280" y="2377440"/>
            <a:ext cx="640080" cy="640080"/>
          </a:xfrm>
          <a:prstGeom prst="ellipse">
            <a:avLst/>
          </a:prstGeom>
          <a:solidFill>
            <a:srgbClr val="0F6B5C"/>
          </a:solidFill>
          <a:ln/>
        </p:spPr>
        <p:txBody>
          <a:bodyPr/>
          <a:lstStyle/>
          <a:p>
            <a:endParaRPr lang="es-SV"/>
          </a:p>
        </p:txBody>
      </p:sp>
      <p:sp>
        <p:nvSpPr>
          <p:cNvPr id="22" name="Text 20"/>
          <p:cNvSpPr/>
          <p:nvPr/>
        </p:nvSpPr>
        <p:spPr>
          <a:xfrm>
            <a:off x="7955280" y="23774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7452360" y="3154680"/>
            <a:ext cx="1645920" cy="365760"/>
          </a:xfrm>
          <a:prstGeom prst="rect">
            <a:avLst/>
          </a:prstGeom>
          <a:noFill/>
          <a:ln/>
        </p:spPr>
        <p:txBody>
          <a:bodyPr wrap="square"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Calibración</a:t>
            </a:r>
            <a:endParaRPr lang="en-US" sz="1250" dirty="0"/>
          </a:p>
        </p:txBody>
      </p:sp>
      <p:sp>
        <p:nvSpPr>
          <p:cNvPr id="24" name="Text 22"/>
          <p:cNvSpPr/>
          <p:nvPr/>
        </p:nvSpPr>
        <p:spPr>
          <a:xfrm>
            <a:off x="7452360" y="3520440"/>
            <a:ext cx="1645920" cy="640080"/>
          </a:xfrm>
          <a:prstGeom prst="rect">
            <a:avLst/>
          </a:prstGeom>
          <a:noFill/>
          <a:ln/>
        </p:spPr>
        <p:txBody>
          <a:bodyPr wrap="square" rtlCol="0" anchor="ctr"/>
          <a:lstStyle/>
          <a:p>
            <a:pPr marL="0" indent="0" algn="ctr">
              <a:buNone/>
            </a:pPr>
            <a:r>
              <a:rPr lang="en-US" sz="1050" dirty="0">
                <a:solidFill>
                  <a:srgbClr val="5B6B7A"/>
                </a:solidFill>
                <a:latin typeface="Calibri" pitchFamily="34" charset="0"/>
                <a:ea typeface="Calibri" pitchFamily="34" charset="-122"/>
                <a:cs typeface="Calibri" pitchFamily="34" charset="-120"/>
              </a:rPr>
              <a:t>Confianza + feedback</a:t>
            </a:r>
            <a:endParaRPr lang="en-US" sz="1050" dirty="0"/>
          </a:p>
        </p:txBody>
      </p:sp>
      <p:sp>
        <p:nvSpPr>
          <p:cNvPr id="25" name="Shape 23"/>
          <p:cNvSpPr/>
          <p:nvPr/>
        </p:nvSpPr>
        <p:spPr>
          <a:xfrm>
            <a:off x="9784080" y="2377440"/>
            <a:ext cx="640080" cy="640080"/>
          </a:xfrm>
          <a:prstGeom prst="ellipse">
            <a:avLst/>
          </a:prstGeom>
          <a:solidFill>
            <a:srgbClr val="2FA66A"/>
          </a:solidFill>
          <a:ln/>
        </p:spPr>
        <p:txBody>
          <a:bodyPr/>
          <a:lstStyle/>
          <a:p>
            <a:endParaRPr lang="es-SV"/>
          </a:p>
        </p:txBody>
      </p:sp>
      <p:sp>
        <p:nvSpPr>
          <p:cNvPr id="26" name="Text 24"/>
          <p:cNvSpPr/>
          <p:nvPr/>
        </p:nvSpPr>
        <p:spPr>
          <a:xfrm>
            <a:off x="9784080" y="23774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7" name="Text 25"/>
          <p:cNvSpPr/>
          <p:nvPr/>
        </p:nvSpPr>
        <p:spPr>
          <a:xfrm>
            <a:off x="9281160" y="3154680"/>
            <a:ext cx="1645920" cy="365760"/>
          </a:xfrm>
          <a:prstGeom prst="rect">
            <a:avLst/>
          </a:prstGeom>
          <a:noFill/>
          <a:ln/>
        </p:spPr>
        <p:txBody>
          <a:bodyPr wrap="square"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Producción</a:t>
            </a:r>
            <a:endParaRPr lang="en-US" sz="1250" dirty="0"/>
          </a:p>
        </p:txBody>
      </p:sp>
      <p:sp>
        <p:nvSpPr>
          <p:cNvPr id="28" name="Text 26"/>
          <p:cNvSpPr/>
          <p:nvPr/>
        </p:nvSpPr>
        <p:spPr>
          <a:xfrm>
            <a:off x="9281160" y="3520440"/>
            <a:ext cx="1645920" cy="640080"/>
          </a:xfrm>
          <a:prstGeom prst="rect">
            <a:avLst/>
          </a:prstGeom>
          <a:noFill/>
          <a:ln/>
        </p:spPr>
        <p:txBody>
          <a:bodyPr wrap="square" rtlCol="0" anchor="ctr"/>
          <a:lstStyle/>
          <a:p>
            <a:pPr marL="0" indent="0" algn="ctr">
              <a:buNone/>
            </a:pPr>
            <a:r>
              <a:rPr lang="en-US" sz="1050" dirty="0">
                <a:solidFill>
                  <a:srgbClr val="5B6B7A"/>
                </a:solidFill>
                <a:latin typeface="Calibri" pitchFamily="34" charset="0"/>
                <a:ea typeface="Calibri" pitchFamily="34" charset="-122"/>
                <a:cs typeface="Calibri" pitchFamily="34" charset="-120"/>
              </a:rPr>
              <a:t>Docker + Render + CI</a:t>
            </a:r>
            <a:endParaRPr lang="en-US" sz="1050" dirty="0"/>
          </a:p>
        </p:txBody>
      </p:sp>
      <p:sp>
        <p:nvSpPr>
          <p:cNvPr id="29" name="Shape 27"/>
          <p:cNvSpPr/>
          <p:nvPr/>
        </p:nvSpPr>
        <p:spPr>
          <a:xfrm>
            <a:off x="640080" y="4297680"/>
            <a:ext cx="10881360" cy="1463040"/>
          </a:xfrm>
          <a:prstGeom prst="roundRect">
            <a:avLst>
              <a:gd name="adj" fmla="val 5000"/>
            </a:avLst>
          </a:prstGeom>
          <a:solidFill>
            <a:srgbClr val="F6F8FA"/>
          </a:solidFill>
          <a:ln/>
        </p:spPr>
        <p:txBody>
          <a:bodyPr/>
          <a:lstStyle/>
          <a:p>
            <a:endParaRPr lang="es-SV"/>
          </a:p>
        </p:txBody>
      </p:sp>
      <p:sp>
        <p:nvSpPr>
          <p:cNvPr id="30" name="Text 28"/>
          <p:cNvSpPr/>
          <p:nvPr/>
        </p:nvSpPr>
        <p:spPr>
          <a:xfrm>
            <a:off x="960120" y="4526280"/>
            <a:ext cx="10241280" cy="1051560"/>
          </a:xfrm>
          <a:prstGeom prst="rect">
            <a:avLst/>
          </a:prstGeom>
          <a:noFill/>
          <a:ln/>
        </p:spPr>
        <p:txBody>
          <a:bodyPr wrap="square" rtlCol="0" anchor="ctr"/>
          <a:lstStyle/>
          <a:p>
            <a:pPr marL="0" indent="0">
              <a:lnSpc>
                <a:spcPct val="125000"/>
              </a:lnSpc>
              <a:buNone/>
            </a:pPr>
            <a:r>
              <a:rPr lang="en-US" sz="1350" b="1" dirty="0">
                <a:solidFill>
                  <a:srgbClr val="0B1F3A"/>
                </a:solidFill>
                <a:latin typeface="Calibri" pitchFamily="34" charset="0"/>
                <a:ea typeface="Calibri" pitchFamily="34" charset="-122"/>
                <a:cs typeface="Calibri" pitchFamily="34" charset="-120"/>
              </a:rPr>
              <a:t>Deuda técnica reconocida y resuelta: </a:t>
            </a:r>
            <a:r>
              <a:rPr lang="en-US" sz="1350" dirty="0">
                <a:solidFill>
                  <a:srgbClr val="5B6B7A"/>
                </a:solidFill>
                <a:latin typeface="Calibri" pitchFamily="34" charset="0"/>
                <a:ea typeface="Calibri" pitchFamily="34" charset="-122"/>
                <a:cs typeface="Calibri" pitchFamily="34" charset="-120"/>
              </a:rPr>
              <a:t>el MVP no tenía fusión de modelos, ni pruebas automatizadas, ni manejo de fallos de API. Hoy: 535 pruebas automatizadas, degradación controlada ante cualquier fallo, y un ciclo de feedback documentado en el changelog del proyecto.</a:t>
            </a:r>
            <a:endParaRPr lang="en-US" sz="1350" dirty="0"/>
          </a:p>
        </p:txBody>
      </p:sp>
      <p:sp>
        <p:nvSpPr>
          <p:cNvPr id="31" name="Shape 29"/>
          <p:cNvSpPr/>
          <p:nvPr/>
        </p:nvSpPr>
        <p:spPr>
          <a:xfrm>
            <a:off x="548640" y="6382512"/>
            <a:ext cx="128016" cy="128016"/>
          </a:xfrm>
          <a:prstGeom prst="ellipse">
            <a:avLst/>
          </a:prstGeom>
          <a:solidFill>
            <a:srgbClr val="0F6B5C"/>
          </a:solidFill>
          <a:ln/>
        </p:spPr>
        <p:txBody>
          <a:bodyPr/>
          <a:lstStyle/>
          <a:p>
            <a:endParaRPr lang="es-SV"/>
          </a:p>
        </p:txBody>
      </p:sp>
      <p:sp>
        <p:nvSpPr>
          <p:cNvPr id="32" name="Text 30"/>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34" name="Text 18">
            <a:extLst>
              <a:ext uri="{FF2B5EF4-FFF2-40B4-BE49-F238E27FC236}">
                <a16:creationId xmlns:a16="http://schemas.microsoft.com/office/drawing/2014/main" id="{331254A5-7DC7-61A2-8338-5FBC4B18A6AE}"/>
              </a:ext>
            </a:extLst>
          </p:cNvPr>
          <p:cNvSpPr/>
          <p:nvPr/>
        </p:nvSpPr>
        <p:spPr>
          <a:xfrm>
            <a:off x="777239" y="6345936"/>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32A4E"/>
                </a:solidFill>
                <a:latin typeface="Calibri" pitchFamily="34" charset="0"/>
                <a:ea typeface="Calibri" pitchFamily="34" charset="-122"/>
                <a:cs typeface="Calibri" pitchFamily="34" charset="-120"/>
              </a:rPr>
              <a:t>ARQUITECTURA TÉCNICA</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Seis señales en paralelo, fusionadas en un veredicto</a:t>
            </a:r>
            <a:endParaRPr lang="en-US" sz="3200" dirty="0"/>
          </a:p>
        </p:txBody>
      </p:sp>
      <p:pic>
        <p:nvPicPr>
          <p:cNvPr id="4" name="Image 0" descr="/tmp/claude-0/-home-user-phishing-ia/d5132282-9723-53cc-ab52-c4e296d4d9c5/scratchpad/pptxgen/architecture_diagram.png"/>
          <p:cNvPicPr>
            <a:picLocks noChangeAspect="1"/>
          </p:cNvPicPr>
          <p:nvPr/>
        </p:nvPicPr>
        <p:blipFill>
          <a:blip r:embed="rId3"/>
          <a:stretch>
            <a:fillRect/>
          </a:stretch>
        </p:blipFill>
        <p:spPr>
          <a:xfrm>
            <a:off x="6263640" y="1783080"/>
            <a:ext cx="5486400" cy="3968496"/>
          </a:xfrm>
          <a:prstGeom prst="rect">
            <a:avLst/>
          </a:prstGeom>
        </p:spPr>
      </p:pic>
      <p:sp>
        <p:nvSpPr>
          <p:cNvPr id="5" name="Shape 2"/>
          <p:cNvSpPr/>
          <p:nvPr/>
        </p:nvSpPr>
        <p:spPr>
          <a:xfrm>
            <a:off x="6172200" y="1691640"/>
            <a:ext cx="5669280" cy="4160520"/>
          </a:xfrm>
          <a:prstGeom prst="roundRect">
            <a:avLst/>
          </a:prstGeom>
          <a:ln w="12700">
            <a:solidFill>
              <a:srgbClr val="D8E0E8"/>
            </a:solidFill>
            <a:prstDash val="solid"/>
          </a:ln>
        </p:spPr>
        <p:txBody>
          <a:bodyPr/>
          <a:lstStyle/>
          <a:p>
            <a:endParaRPr lang="es-SV"/>
          </a:p>
        </p:txBody>
      </p:sp>
      <p:sp>
        <p:nvSpPr>
          <p:cNvPr id="6" name="Shape 3"/>
          <p:cNvSpPr/>
          <p:nvPr/>
        </p:nvSpPr>
        <p:spPr>
          <a:xfrm>
            <a:off x="640080" y="1920240"/>
            <a:ext cx="365760" cy="365760"/>
          </a:xfrm>
          <a:prstGeom prst="ellipse">
            <a:avLst/>
          </a:prstGeom>
          <a:solidFill>
            <a:srgbClr val="0F6B5C"/>
          </a:solidFill>
          <a:ln/>
        </p:spPr>
        <p:txBody>
          <a:bodyPr/>
          <a:lstStyle/>
          <a:p>
            <a:endParaRPr lang="es-SV"/>
          </a:p>
        </p:txBody>
      </p:sp>
      <p:sp>
        <p:nvSpPr>
          <p:cNvPr id="7" name="Text 4"/>
          <p:cNvSpPr/>
          <p:nvPr/>
        </p:nvSpPr>
        <p:spPr>
          <a:xfrm>
            <a:off x="640080" y="192024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847088"/>
            <a:ext cx="4754880" cy="594360"/>
          </a:xfrm>
          <a:prstGeom prst="rect">
            <a:avLst/>
          </a:prstGeom>
          <a:noFill/>
          <a:ln/>
        </p:spPr>
        <p:txBody>
          <a:bodyPr wrap="square" rtlCol="0" anchor="ctr"/>
          <a:lstStyle/>
          <a:p>
            <a:pPr marL="0" indent="0">
              <a:lnSpc>
                <a:spcPct val="115000"/>
              </a:lnSpc>
              <a:buNone/>
            </a:pPr>
            <a:r>
              <a:rPr lang="en-US" sz="1350" dirty="0">
                <a:solidFill>
                  <a:srgbClr val="1A1A1A"/>
                </a:solidFill>
                <a:latin typeface="Calibri" pitchFamily="34" charset="0"/>
                <a:ea typeface="Calibri" pitchFamily="34" charset="-122"/>
                <a:cs typeface="Calibri" pitchFamily="34" charset="-120"/>
              </a:rPr>
              <a:t>Extracción de features de URL (instantánea)</a:t>
            </a:r>
            <a:endParaRPr lang="en-US" sz="1350" dirty="0"/>
          </a:p>
        </p:txBody>
      </p:sp>
      <p:sp>
        <p:nvSpPr>
          <p:cNvPr id="9" name="Shape 6"/>
          <p:cNvSpPr/>
          <p:nvPr/>
        </p:nvSpPr>
        <p:spPr>
          <a:xfrm>
            <a:off x="640080" y="2633472"/>
            <a:ext cx="365760" cy="365760"/>
          </a:xfrm>
          <a:prstGeom prst="ellipse">
            <a:avLst/>
          </a:prstGeom>
          <a:solidFill>
            <a:srgbClr val="0F6B5C"/>
          </a:solidFill>
          <a:ln/>
        </p:spPr>
        <p:txBody>
          <a:bodyPr/>
          <a:lstStyle/>
          <a:p>
            <a:endParaRPr lang="es-SV"/>
          </a:p>
        </p:txBody>
      </p:sp>
      <p:sp>
        <p:nvSpPr>
          <p:cNvPr id="10" name="Text 7"/>
          <p:cNvSpPr/>
          <p:nvPr/>
        </p:nvSpPr>
        <p:spPr>
          <a:xfrm>
            <a:off x="640080" y="2633472"/>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560320"/>
            <a:ext cx="4754880" cy="594360"/>
          </a:xfrm>
          <a:prstGeom prst="rect">
            <a:avLst/>
          </a:prstGeom>
          <a:noFill/>
          <a:ln/>
        </p:spPr>
        <p:txBody>
          <a:bodyPr wrap="square" rtlCol="0" anchor="ctr"/>
          <a:lstStyle/>
          <a:p>
            <a:pPr marL="0" indent="0">
              <a:lnSpc>
                <a:spcPct val="115000"/>
              </a:lnSpc>
              <a:buNone/>
            </a:pPr>
            <a:r>
              <a:rPr lang="en-US" sz="1350" dirty="0">
                <a:solidFill>
                  <a:srgbClr val="1A1A1A"/>
                </a:solidFill>
                <a:latin typeface="Calibri" pitchFamily="34" charset="0"/>
                <a:ea typeface="Calibri" pitchFamily="34" charset="-122"/>
                <a:cs typeface="Calibri" pitchFamily="34" charset="-120"/>
              </a:rPr>
              <a:t>WHOIS, HTML, VirusTotal, Safe Browsing, Fact Check, RoBERTa — en paralelo</a:t>
            </a:r>
            <a:endParaRPr lang="en-US" sz="1350" dirty="0"/>
          </a:p>
        </p:txBody>
      </p:sp>
      <p:sp>
        <p:nvSpPr>
          <p:cNvPr id="12" name="Shape 9"/>
          <p:cNvSpPr/>
          <p:nvPr/>
        </p:nvSpPr>
        <p:spPr>
          <a:xfrm>
            <a:off x="640080" y="3346704"/>
            <a:ext cx="365760" cy="365760"/>
          </a:xfrm>
          <a:prstGeom prst="ellipse">
            <a:avLst/>
          </a:prstGeom>
          <a:solidFill>
            <a:srgbClr val="0F6B5C"/>
          </a:solidFill>
          <a:ln/>
        </p:spPr>
        <p:txBody>
          <a:bodyPr/>
          <a:lstStyle/>
          <a:p>
            <a:endParaRPr lang="es-SV"/>
          </a:p>
        </p:txBody>
      </p:sp>
      <p:sp>
        <p:nvSpPr>
          <p:cNvPr id="13" name="Text 10"/>
          <p:cNvSpPr/>
          <p:nvPr/>
        </p:nvSpPr>
        <p:spPr>
          <a:xfrm>
            <a:off x="640080" y="3346704"/>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273552"/>
            <a:ext cx="4754880" cy="594360"/>
          </a:xfrm>
          <a:prstGeom prst="rect">
            <a:avLst/>
          </a:prstGeom>
          <a:noFill/>
          <a:ln/>
        </p:spPr>
        <p:txBody>
          <a:bodyPr wrap="square" rtlCol="0" anchor="ctr"/>
          <a:lstStyle/>
          <a:p>
            <a:pPr marL="0" indent="0">
              <a:lnSpc>
                <a:spcPct val="115000"/>
              </a:lnSpc>
              <a:buNone/>
            </a:pPr>
            <a:r>
              <a:rPr lang="en-US" sz="1350" dirty="0">
                <a:solidFill>
                  <a:srgbClr val="1A1A1A"/>
                </a:solidFill>
                <a:latin typeface="Calibri" pitchFamily="34" charset="0"/>
                <a:ea typeface="Calibri" pitchFamily="34" charset="-122"/>
                <a:cs typeface="Calibri" pitchFamily="34" charset="-120"/>
              </a:rPr>
              <a:t>Random Forest sobre features URL + HTML</a:t>
            </a:r>
            <a:endParaRPr lang="en-US" sz="1350" dirty="0"/>
          </a:p>
        </p:txBody>
      </p:sp>
      <p:sp>
        <p:nvSpPr>
          <p:cNvPr id="15" name="Shape 12"/>
          <p:cNvSpPr/>
          <p:nvPr/>
        </p:nvSpPr>
        <p:spPr>
          <a:xfrm>
            <a:off x="640080" y="4059936"/>
            <a:ext cx="365760" cy="365760"/>
          </a:xfrm>
          <a:prstGeom prst="ellipse">
            <a:avLst/>
          </a:prstGeom>
          <a:solidFill>
            <a:srgbClr val="0F6B5C"/>
          </a:solidFill>
          <a:ln/>
        </p:spPr>
        <p:txBody>
          <a:bodyPr/>
          <a:lstStyle/>
          <a:p>
            <a:endParaRPr lang="es-SV"/>
          </a:p>
        </p:txBody>
      </p:sp>
      <p:sp>
        <p:nvSpPr>
          <p:cNvPr id="16" name="Text 13"/>
          <p:cNvSpPr/>
          <p:nvPr/>
        </p:nvSpPr>
        <p:spPr>
          <a:xfrm>
            <a:off x="640080" y="405993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3986784"/>
            <a:ext cx="4754880" cy="594360"/>
          </a:xfrm>
          <a:prstGeom prst="rect">
            <a:avLst/>
          </a:prstGeom>
          <a:noFill/>
          <a:ln/>
        </p:spPr>
        <p:txBody>
          <a:bodyPr wrap="square" rtlCol="0" anchor="ctr"/>
          <a:lstStyle/>
          <a:p>
            <a:pPr marL="0" indent="0">
              <a:lnSpc>
                <a:spcPct val="115000"/>
              </a:lnSpc>
              <a:buNone/>
            </a:pPr>
            <a:r>
              <a:rPr lang="en-US" sz="1350" dirty="0">
                <a:solidFill>
                  <a:srgbClr val="1A1A1A"/>
                </a:solidFill>
                <a:latin typeface="Calibri" pitchFamily="34" charset="0"/>
                <a:ea typeface="Calibri" pitchFamily="34" charset="-122"/>
                <a:cs typeface="Calibri" pitchFamily="34" charset="-120"/>
              </a:rPr>
              <a:t>FusionEngine: 40% Random Forest + 60% RoBERTa</a:t>
            </a:r>
            <a:endParaRPr lang="en-US" sz="1350" dirty="0"/>
          </a:p>
        </p:txBody>
      </p:sp>
      <p:sp>
        <p:nvSpPr>
          <p:cNvPr id="18" name="Shape 15"/>
          <p:cNvSpPr/>
          <p:nvPr/>
        </p:nvSpPr>
        <p:spPr>
          <a:xfrm>
            <a:off x="640080" y="4773168"/>
            <a:ext cx="365760" cy="365760"/>
          </a:xfrm>
          <a:prstGeom prst="ellipse">
            <a:avLst/>
          </a:prstGeom>
          <a:solidFill>
            <a:srgbClr val="0F6B5C"/>
          </a:solidFill>
          <a:ln/>
        </p:spPr>
        <p:txBody>
          <a:bodyPr/>
          <a:lstStyle/>
          <a:p>
            <a:endParaRPr lang="es-SV"/>
          </a:p>
        </p:txBody>
      </p:sp>
      <p:sp>
        <p:nvSpPr>
          <p:cNvPr id="19" name="Text 16"/>
          <p:cNvSpPr/>
          <p:nvPr/>
        </p:nvSpPr>
        <p:spPr>
          <a:xfrm>
            <a:off x="640080" y="477316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4700016"/>
            <a:ext cx="4754880" cy="594360"/>
          </a:xfrm>
          <a:prstGeom prst="rect">
            <a:avLst/>
          </a:prstGeom>
          <a:noFill/>
          <a:ln/>
        </p:spPr>
        <p:txBody>
          <a:bodyPr wrap="square" rtlCol="0" anchor="ctr"/>
          <a:lstStyle/>
          <a:p>
            <a:pPr marL="0" indent="0">
              <a:lnSpc>
                <a:spcPct val="115000"/>
              </a:lnSpc>
              <a:buNone/>
            </a:pPr>
            <a:r>
              <a:rPr lang="en-US" sz="1350" dirty="0">
                <a:solidFill>
                  <a:srgbClr val="1A1A1A"/>
                </a:solidFill>
                <a:latin typeface="Calibri" pitchFamily="34" charset="0"/>
                <a:ea typeface="Calibri" pitchFamily="34" charset="-122"/>
                <a:cs typeface="Calibri" pitchFamily="34" charset="-120"/>
              </a:rPr>
              <a:t>RiskEngine: score 0–100 + razones explicables</a:t>
            </a:r>
            <a:endParaRPr lang="en-US" sz="1350" dirty="0"/>
          </a:p>
        </p:txBody>
      </p:sp>
      <p:sp>
        <p:nvSpPr>
          <p:cNvPr id="21" name="Text 18"/>
          <p:cNvSpPr/>
          <p:nvPr/>
        </p:nvSpPr>
        <p:spPr>
          <a:xfrm>
            <a:off x="640080" y="5623560"/>
            <a:ext cx="5349240" cy="548640"/>
          </a:xfrm>
          <a:prstGeom prst="rect">
            <a:avLst/>
          </a:prstGeom>
          <a:noFill/>
          <a:ln/>
        </p:spPr>
        <p:txBody>
          <a:bodyPr wrap="square" rtlCol="0" anchor="ctr"/>
          <a:lstStyle/>
          <a:p>
            <a:pPr marL="0" indent="0">
              <a:buNone/>
            </a:pPr>
            <a:r>
              <a:rPr lang="en-US" sz="1150" i="1" dirty="0">
                <a:solidFill>
                  <a:srgbClr val="5B6B7A"/>
                </a:solidFill>
                <a:latin typeface="Calibri" pitchFamily="34" charset="0"/>
                <a:ea typeface="Calibri" pitchFamily="34" charset="-122"/>
                <a:cs typeface="Calibri" pitchFamily="34" charset="-120"/>
              </a:rPr>
              <a:t>Contrato validado con Pydantic · URL inválida → 422 antes de tocar la lógica de negocio</a:t>
            </a:r>
            <a:endParaRPr lang="en-US" sz="1150" dirty="0"/>
          </a:p>
        </p:txBody>
      </p:sp>
      <p:sp>
        <p:nvSpPr>
          <p:cNvPr id="22" name="Shape 19"/>
          <p:cNvSpPr/>
          <p:nvPr/>
        </p:nvSpPr>
        <p:spPr>
          <a:xfrm>
            <a:off x="548640" y="6382512"/>
            <a:ext cx="128016" cy="128016"/>
          </a:xfrm>
          <a:prstGeom prst="ellipse">
            <a:avLst/>
          </a:prstGeom>
          <a:solidFill>
            <a:srgbClr val="132A4E"/>
          </a:solidFill>
          <a:ln/>
        </p:spPr>
        <p:txBody>
          <a:bodyPr/>
          <a:lstStyle/>
          <a:p>
            <a:endParaRPr lang="es-SV"/>
          </a:p>
        </p:txBody>
      </p:sp>
      <p:sp>
        <p:nvSpPr>
          <p:cNvPr id="23" name="Text 20"/>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27" name="Text 18">
            <a:extLst>
              <a:ext uri="{FF2B5EF4-FFF2-40B4-BE49-F238E27FC236}">
                <a16:creationId xmlns:a16="http://schemas.microsoft.com/office/drawing/2014/main" id="{2EBB937E-908C-E16F-A8BA-B561C2940001}"/>
              </a:ext>
            </a:extLst>
          </p:cNvPr>
          <p:cNvSpPr/>
          <p:nvPr/>
        </p:nvSpPr>
        <p:spPr>
          <a:xfrm>
            <a:off x="777239" y="6345936"/>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32A4E"/>
                </a:solidFill>
                <a:latin typeface="Calibri" pitchFamily="34" charset="0"/>
                <a:ea typeface="Calibri" pitchFamily="34" charset="-122"/>
                <a:cs typeface="Calibri" pitchFamily="34" charset="-120"/>
              </a:rPr>
              <a:t>PRUEBAS Y CI/CD</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Casos adversariales, verificados uno por uno</a:t>
            </a:r>
            <a:endParaRPr lang="en-US" sz="3200" dirty="0"/>
          </a:p>
        </p:txBody>
      </p:sp>
      <p:sp>
        <p:nvSpPr>
          <p:cNvPr id="4" name="Shape 2"/>
          <p:cNvSpPr/>
          <p:nvPr/>
        </p:nvSpPr>
        <p:spPr>
          <a:xfrm>
            <a:off x="640080" y="1920240"/>
            <a:ext cx="3108960" cy="3794760"/>
          </a:xfrm>
          <a:prstGeom prst="roundRect">
            <a:avLst>
              <a:gd name="adj" fmla="val 2941"/>
            </a:avLst>
          </a:prstGeom>
          <a:solidFill>
            <a:srgbClr val="0B1F3A"/>
          </a:solidFill>
          <a:ln/>
        </p:spPr>
        <p:txBody>
          <a:bodyPr/>
          <a:lstStyle/>
          <a:p>
            <a:endParaRPr lang="es-SV"/>
          </a:p>
        </p:txBody>
      </p:sp>
      <p:sp>
        <p:nvSpPr>
          <p:cNvPr id="5" name="Text 3"/>
          <p:cNvSpPr/>
          <p:nvPr/>
        </p:nvSpPr>
        <p:spPr>
          <a:xfrm>
            <a:off x="868680" y="2606040"/>
            <a:ext cx="2651760" cy="914400"/>
          </a:xfrm>
          <a:prstGeom prst="rect">
            <a:avLst/>
          </a:prstGeom>
          <a:noFill/>
          <a:ln/>
        </p:spPr>
        <p:txBody>
          <a:bodyPr wrap="square" rtlCol="0" anchor="ctr"/>
          <a:lstStyle/>
          <a:p>
            <a:pPr marL="0" indent="0" algn="ctr">
              <a:buNone/>
            </a:pPr>
            <a:r>
              <a:rPr lang="en-US" sz="5000" b="1" dirty="0">
                <a:solidFill>
                  <a:srgbClr val="2FA66A"/>
                </a:solidFill>
                <a:latin typeface="Cambria" pitchFamily="34" charset="0"/>
                <a:ea typeface="Cambria" pitchFamily="34" charset="-122"/>
                <a:cs typeface="Cambria" pitchFamily="34" charset="-120"/>
              </a:rPr>
              <a:t>535</a:t>
            </a:r>
            <a:endParaRPr lang="en-US" sz="5000" dirty="0"/>
          </a:p>
        </p:txBody>
      </p:sp>
      <p:sp>
        <p:nvSpPr>
          <p:cNvPr id="6" name="Text 4"/>
          <p:cNvSpPr/>
          <p:nvPr/>
        </p:nvSpPr>
        <p:spPr>
          <a:xfrm>
            <a:off x="868680" y="3520440"/>
            <a:ext cx="2651760" cy="457200"/>
          </a:xfrm>
          <a:prstGeom prst="rect">
            <a:avLst/>
          </a:prstGeom>
          <a:noFill/>
          <a:ln/>
        </p:spPr>
        <p:txBody>
          <a:bodyPr wrap="square" rtlCol="0" anchor="ctr"/>
          <a:lstStyle/>
          <a:p>
            <a:pPr marL="0" indent="0" algn="ctr">
              <a:buNone/>
            </a:pPr>
            <a:r>
              <a:rPr lang="en-US" sz="1300" dirty="0">
                <a:solidFill>
                  <a:srgbClr val="C9D6E3"/>
                </a:solidFill>
                <a:latin typeface="Calibri" pitchFamily="34" charset="0"/>
                <a:ea typeface="Calibri" pitchFamily="34" charset="-122"/>
                <a:cs typeface="Calibri" pitchFamily="34" charset="-120"/>
              </a:rPr>
              <a:t>pruebas automatizadas</a:t>
            </a:r>
            <a:endParaRPr lang="en-US" sz="1300" dirty="0"/>
          </a:p>
        </p:txBody>
      </p:sp>
      <p:sp>
        <p:nvSpPr>
          <p:cNvPr id="7" name="Text 5"/>
          <p:cNvSpPr/>
          <p:nvPr/>
        </p:nvSpPr>
        <p:spPr>
          <a:xfrm>
            <a:off x="1005840" y="4160520"/>
            <a:ext cx="2377440" cy="1097280"/>
          </a:xfrm>
          <a:prstGeom prst="rect">
            <a:avLst/>
          </a:prstGeom>
          <a:noFill/>
          <a:ln/>
        </p:spPr>
        <p:txBody>
          <a:bodyPr wrap="square" rtlCol="0" anchor="ctr"/>
          <a:lstStyle/>
          <a:p>
            <a:pPr marL="0" indent="0" algn="ctr">
              <a:lnSpc>
                <a:spcPct val="120000"/>
              </a:lnSpc>
              <a:buNone/>
            </a:pPr>
            <a:r>
              <a:rPr lang="en-US" sz="1100" i="1" dirty="0">
                <a:solidFill>
                  <a:srgbClr val="8FA3B8"/>
                </a:solidFill>
                <a:latin typeface="Calibri" pitchFamily="34" charset="0"/>
                <a:ea typeface="Calibri" pitchFamily="34" charset="-122"/>
                <a:cs typeface="Calibri" pitchFamily="34" charset="-120"/>
              </a:rPr>
              <a:t>100% mockeadas — corren sin modelos ni claves reales, en CI ante cada push</a:t>
            </a:r>
            <a:endParaRPr lang="en-US" sz="1100" dirty="0"/>
          </a:p>
        </p:txBody>
      </p:sp>
      <p:sp>
        <p:nvSpPr>
          <p:cNvPr id="8" name="Shape 6"/>
          <p:cNvSpPr/>
          <p:nvPr/>
        </p:nvSpPr>
        <p:spPr>
          <a:xfrm>
            <a:off x="3931920" y="1965960"/>
            <a:ext cx="7589520" cy="960120"/>
          </a:xfrm>
          <a:prstGeom prst="roundRect">
            <a:avLst>
              <a:gd name="adj" fmla="val 7619"/>
            </a:avLst>
          </a:prstGeom>
          <a:solidFill>
            <a:srgbClr val="FFFFFF"/>
          </a:solidFill>
          <a:ln w="12700">
            <a:solidFill>
              <a:srgbClr val="E3E9EE"/>
            </a:solidFill>
            <a:prstDash val="solid"/>
          </a:ln>
        </p:spPr>
        <p:txBody>
          <a:bodyPr/>
          <a:lstStyle/>
          <a:p>
            <a:endParaRPr lang="es-SV"/>
          </a:p>
        </p:txBody>
      </p:sp>
      <p:sp>
        <p:nvSpPr>
          <p:cNvPr id="9" name="Text 7"/>
          <p:cNvSpPr/>
          <p:nvPr/>
        </p:nvSpPr>
        <p:spPr>
          <a:xfrm>
            <a:off x="4160520" y="2057400"/>
            <a:ext cx="5120640" cy="365760"/>
          </a:xfrm>
          <a:prstGeom prst="rect">
            <a:avLst/>
          </a:prstGeom>
          <a:noFill/>
          <a:ln/>
        </p:spPr>
        <p:txBody>
          <a:bodyPr wrap="square" rtlCol="0" anchor="ctr"/>
          <a:lstStyle/>
          <a:p>
            <a:pPr marL="0" indent="0">
              <a:buNone/>
            </a:pPr>
            <a:r>
              <a:rPr lang="en-US" sz="1250" b="1" dirty="0">
                <a:solidFill>
                  <a:srgbClr val="1A1A1A"/>
                </a:solidFill>
                <a:latin typeface="Courier New" pitchFamily="34" charset="0"/>
                <a:ea typeface="Courier New" pitchFamily="34" charset="-122"/>
                <a:cs typeface="Courier New" pitchFamily="34" charset="-120"/>
              </a:rPr>
              <a:t>http://192.168.1.1/login</a:t>
            </a:r>
            <a:endParaRPr lang="en-US" sz="1250" dirty="0"/>
          </a:p>
        </p:txBody>
      </p:sp>
      <p:sp>
        <p:nvSpPr>
          <p:cNvPr id="10" name="Text 8"/>
          <p:cNvSpPr/>
          <p:nvPr/>
        </p:nvSpPr>
        <p:spPr>
          <a:xfrm>
            <a:off x="4160520" y="2441448"/>
            <a:ext cx="5120640" cy="365760"/>
          </a:xfrm>
          <a:prstGeom prst="rect">
            <a:avLst/>
          </a:prstGeom>
          <a:noFill/>
          <a:ln/>
        </p:spPr>
        <p:txBody>
          <a:bodyPr wrap="square" rtlCol="0" anchor="ctr"/>
          <a:lstStyle/>
          <a:p>
            <a:pPr marL="0" indent="0">
              <a:buNone/>
            </a:pPr>
            <a:r>
              <a:rPr lang="en-US" sz="1150" dirty="0">
                <a:solidFill>
                  <a:srgbClr val="5B6B7A"/>
                </a:solidFill>
                <a:latin typeface="Calibri" pitchFamily="34" charset="0"/>
                <a:ea typeface="Calibri" pitchFamily="34" charset="-122"/>
                <a:cs typeface="Calibri" pitchFamily="34" charset="-120"/>
              </a:rPr>
              <a:t>IP en vez de dominio</a:t>
            </a:r>
            <a:endParaRPr lang="en-US" sz="1150" dirty="0"/>
          </a:p>
        </p:txBody>
      </p:sp>
      <p:sp>
        <p:nvSpPr>
          <p:cNvPr id="11" name="Shape 9"/>
          <p:cNvSpPr/>
          <p:nvPr/>
        </p:nvSpPr>
        <p:spPr>
          <a:xfrm>
            <a:off x="10104120" y="2221992"/>
            <a:ext cx="1234440" cy="457200"/>
          </a:xfrm>
          <a:prstGeom prst="roundRect">
            <a:avLst>
              <a:gd name="adj" fmla="val 50000"/>
            </a:avLst>
          </a:prstGeom>
          <a:solidFill>
            <a:srgbClr val="D64550"/>
          </a:solidFill>
          <a:ln/>
        </p:spPr>
        <p:txBody>
          <a:bodyPr/>
          <a:lstStyle/>
          <a:p>
            <a:endParaRPr lang="es-SV"/>
          </a:p>
        </p:txBody>
      </p:sp>
      <p:sp>
        <p:nvSpPr>
          <p:cNvPr id="12" name="Text 10"/>
          <p:cNvSpPr/>
          <p:nvPr/>
        </p:nvSpPr>
        <p:spPr>
          <a:xfrm>
            <a:off x="10104120" y="2221992"/>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13" name="Shape 11"/>
          <p:cNvSpPr/>
          <p:nvPr/>
        </p:nvSpPr>
        <p:spPr>
          <a:xfrm>
            <a:off x="3931920" y="3108960"/>
            <a:ext cx="7589520" cy="960120"/>
          </a:xfrm>
          <a:prstGeom prst="roundRect">
            <a:avLst>
              <a:gd name="adj" fmla="val 7619"/>
            </a:avLst>
          </a:prstGeom>
          <a:solidFill>
            <a:srgbClr val="FFFFFF"/>
          </a:solidFill>
          <a:ln w="12700">
            <a:solidFill>
              <a:srgbClr val="E3E9EE"/>
            </a:solidFill>
            <a:prstDash val="solid"/>
          </a:ln>
        </p:spPr>
        <p:txBody>
          <a:bodyPr/>
          <a:lstStyle/>
          <a:p>
            <a:endParaRPr lang="es-SV"/>
          </a:p>
        </p:txBody>
      </p:sp>
      <p:sp>
        <p:nvSpPr>
          <p:cNvPr id="14" name="Text 12"/>
          <p:cNvSpPr/>
          <p:nvPr/>
        </p:nvSpPr>
        <p:spPr>
          <a:xfrm>
            <a:off x="4160520" y="3200400"/>
            <a:ext cx="5120640" cy="365760"/>
          </a:xfrm>
          <a:prstGeom prst="rect">
            <a:avLst/>
          </a:prstGeom>
          <a:noFill/>
          <a:ln/>
        </p:spPr>
        <p:txBody>
          <a:bodyPr wrap="square" rtlCol="0" anchor="ctr"/>
          <a:lstStyle/>
          <a:p>
            <a:pPr marL="0" indent="0">
              <a:buNone/>
            </a:pPr>
            <a:r>
              <a:rPr lang="en-US" sz="1250" b="1" dirty="0">
                <a:solidFill>
                  <a:srgbClr val="1A1A1A"/>
                </a:solidFill>
                <a:latin typeface="Courier New" pitchFamily="34" charset="0"/>
                <a:ea typeface="Courier New" pitchFamily="34" charset="-122"/>
                <a:cs typeface="Courier New" pitchFamily="34" charset="-120"/>
              </a:rPr>
              <a:t>paypal.com@evil-site.xyz</a:t>
            </a:r>
            <a:endParaRPr lang="en-US" sz="1250" dirty="0"/>
          </a:p>
        </p:txBody>
      </p:sp>
      <p:sp>
        <p:nvSpPr>
          <p:cNvPr id="15" name="Text 13"/>
          <p:cNvSpPr/>
          <p:nvPr/>
        </p:nvSpPr>
        <p:spPr>
          <a:xfrm>
            <a:off x="4160520" y="3584448"/>
            <a:ext cx="5120640" cy="365760"/>
          </a:xfrm>
          <a:prstGeom prst="rect">
            <a:avLst/>
          </a:prstGeom>
          <a:noFill/>
          <a:ln/>
        </p:spPr>
        <p:txBody>
          <a:bodyPr wrap="square" rtlCol="0" anchor="ctr"/>
          <a:lstStyle/>
          <a:p>
            <a:pPr marL="0" indent="0">
              <a:buNone/>
            </a:pPr>
            <a:r>
              <a:rPr lang="en-US" sz="1150" dirty="0">
                <a:solidFill>
                  <a:srgbClr val="5B6B7A"/>
                </a:solidFill>
                <a:latin typeface="Calibri" pitchFamily="34" charset="0"/>
                <a:ea typeface="Calibri" pitchFamily="34" charset="-122"/>
                <a:cs typeface="Calibri" pitchFamily="34" charset="-120"/>
              </a:rPr>
              <a:t>Símbolo @ — redirección engañosa</a:t>
            </a:r>
            <a:endParaRPr lang="en-US" sz="1150" dirty="0"/>
          </a:p>
        </p:txBody>
      </p:sp>
      <p:sp>
        <p:nvSpPr>
          <p:cNvPr id="16" name="Shape 14"/>
          <p:cNvSpPr/>
          <p:nvPr/>
        </p:nvSpPr>
        <p:spPr>
          <a:xfrm>
            <a:off x="10104120" y="3364992"/>
            <a:ext cx="1234440" cy="457200"/>
          </a:xfrm>
          <a:prstGeom prst="roundRect">
            <a:avLst>
              <a:gd name="adj" fmla="val 50000"/>
            </a:avLst>
          </a:prstGeom>
          <a:solidFill>
            <a:srgbClr val="D64550"/>
          </a:solidFill>
          <a:ln/>
        </p:spPr>
        <p:txBody>
          <a:bodyPr/>
          <a:lstStyle/>
          <a:p>
            <a:endParaRPr lang="es-SV"/>
          </a:p>
        </p:txBody>
      </p:sp>
      <p:sp>
        <p:nvSpPr>
          <p:cNvPr id="17" name="Text 15"/>
          <p:cNvSpPr/>
          <p:nvPr/>
        </p:nvSpPr>
        <p:spPr>
          <a:xfrm>
            <a:off x="10104120" y="3364992"/>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18" name="Shape 16"/>
          <p:cNvSpPr/>
          <p:nvPr/>
        </p:nvSpPr>
        <p:spPr>
          <a:xfrm>
            <a:off x="3931920" y="4251960"/>
            <a:ext cx="7589520" cy="960120"/>
          </a:xfrm>
          <a:prstGeom prst="roundRect">
            <a:avLst>
              <a:gd name="adj" fmla="val 7619"/>
            </a:avLst>
          </a:prstGeom>
          <a:solidFill>
            <a:srgbClr val="FFFFFF"/>
          </a:solidFill>
          <a:ln w="12700">
            <a:solidFill>
              <a:srgbClr val="E3E9EE"/>
            </a:solidFill>
            <a:prstDash val="solid"/>
          </a:ln>
        </p:spPr>
        <p:txBody>
          <a:bodyPr/>
          <a:lstStyle/>
          <a:p>
            <a:endParaRPr lang="es-SV"/>
          </a:p>
        </p:txBody>
      </p:sp>
      <p:sp>
        <p:nvSpPr>
          <p:cNvPr id="19" name="Text 17"/>
          <p:cNvSpPr/>
          <p:nvPr/>
        </p:nvSpPr>
        <p:spPr>
          <a:xfrm>
            <a:off x="4160520" y="4343400"/>
            <a:ext cx="5120640" cy="365760"/>
          </a:xfrm>
          <a:prstGeom prst="rect">
            <a:avLst/>
          </a:prstGeom>
          <a:noFill/>
          <a:ln/>
        </p:spPr>
        <p:txBody>
          <a:bodyPr wrap="square" rtlCol="0" anchor="ctr"/>
          <a:lstStyle/>
          <a:p>
            <a:pPr marL="0" indent="0">
              <a:buNone/>
            </a:pPr>
            <a:r>
              <a:rPr lang="en-US" sz="1250" b="1" dirty="0">
                <a:solidFill>
                  <a:srgbClr val="1A1A1A"/>
                </a:solidFill>
                <a:latin typeface="Courier New" pitchFamily="34" charset="0"/>
                <a:ea typeface="Courier New" pitchFamily="34" charset="-122"/>
                <a:cs typeface="Courier New" pitchFamily="34" charset="-120"/>
              </a:rPr>
              <a:t>secure-login-verify.xyz</a:t>
            </a:r>
            <a:endParaRPr lang="en-US" sz="1250" dirty="0"/>
          </a:p>
        </p:txBody>
      </p:sp>
      <p:sp>
        <p:nvSpPr>
          <p:cNvPr id="20" name="Text 18"/>
          <p:cNvSpPr/>
          <p:nvPr/>
        </p:nvSpPr>
        <p:spPr>
          <a:xfrm>
            <a:off x="4160520" y="4727448"/>
            <a:ext cx="5120640" cy="365760"/>
          </a:xfrm>
          <a:prstGeom prst="rect">
            <a:avLst/>
          </a:prstGeom>
          <a:noFill/>
          <a:ln/>
        </p:spPr>
        <p:txBody>
          <a:bodyPr wrap="square" rtlCol="0" anchor="ctr"/>
          <a:lstStyle/>
          <a:p>
            <a:pPr marL="0" indent="0">
              <a:buNone/>
            </a:pPr>
            <a:r>
              <a:rPr lang="en-US" sz="1150" dirty="0">
                <a:solidFill>
                  <a:srgbClr val="5B6B7A"/>
                </a:solidFill>
                <a:latin typeface="Calibri" pitchFamily="34" charset="0"/>
                <a:ea typeface="Calibri" pitchFamily="34" charset="-122"/>
                <a:cs typeface="Calibri" pitchFamily="34" charset="-120"/>
              </a:rPr>
              <a:t>Keywords de phishing acumuladas</a:t>
            </a:r>
            <a:endParaRPr lang="en-US" sz="1150" dirty="0"/>
          </a:p>
        </p:txBody>
      </p:sp>
      <p:sp>
        <p:nvSpPr>
          <p:cNvPr id="21" name="Shape 19"/>
          <p:cNvSpPr/>
          <p:nvPr/>
        </p:nvSpPr>
        <p:spPr>
          <a:xfrm>
            <a:off x="10104120" y="4507992"/>
            <a:ext cx="1234440" cy="457200"/>
          </a:xfrm>
          <a:prstGeom prst="roundRect">
            <a:avLst>
              <a:gd name="adj" fmla="val 50000"/>
            </a:avLst>
          </a:prstGeom>
          <a:solidFill>
            <a:srgbClr val="D64550"/>
          </a:solidFill>
          <a:ln/>
        </p:spPr>
        <p:txBody>
          <a:bodyPr/>
          <a:lstStyle/>
          <a:p>
            <a:endParaRPr lang="es-SV"/>
          </a:p>
        </p:txBody>
      </p:sp>
      <p:sp>
        <p:nvSpPr>
          <p:cNvPr id="22" name="Text 20"/>
          <p:cNvSpPr/>
          <p:nvPr/>
        </p:nvSpPr>
        <p:spPr>
          <a:xfrm>
            <a:off x="10104120" y="4507992"/>
            <a:ext cx="12344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23" name="Shape 21"/>
          <p:cNvSpPr/>
          <p:nvPr/>
        </p:nvSpPr>
        <p:spPr>
          <a:xfrm>
            <a:off x="548640" y="6382512"/>
            <a:ext cx="128016" cy="128016"/>
          </a:xfrm>
          <a:prstGeom prst="ellipse">
            <a:avLst/>
          </a:prstGeom>
          <a:solidFill>
            <a:srgbClr val="132A4E"/>
          </a:solidFill>
          <a:ln/>
        </p:spPr>
        <p:txBody>
          <a:bodyPr/>
          <a:lstStyle/>
          <a:p>
            <a:endParaRPr lang="es-SV"/>
          </a:p>
        </p:txBody>
      </p:sp>
      <p:sp>
        <p:nvSpPr>
          <p:cNvPr id="24" name="Text 22"/>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26" name="Text 18">
            <a:extLst>
              <a:ext uri="{FF2B5EF4-FFF2-40B4-BE49-F238E27FC236}">
                <a16:creationId xmlns:a16="http://schemas.microsoft.com/office/drawing/2014/main" id="{B46329C8-6755-7120-B321-FF6222A44F6E}"/>
              </a:ext>
            </a:extLst>
          </p:cNvPr>
          <p:cNvSpPr/>
          <p:nvPr/>
        </p:nvSpPr>
        <p:spPr>
          <a:xfrm>
            <a:off x="676656" y="6345936"/>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32A4E"/>
                </a:solidFill>
                <a:latin typeface="Calibri" pitchFamily="34" charset="0"/>
                <a:ea typeface="Calibri" pitchFamily="34" charset="-122"/>
                <a:cs typeface="Calibri" pitchFamily="34" charset="-120"/>
              </a:rPr>
              <a:t>DESPLIEGUE</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Modelos horneados en la imagen, no descargados en runtime</a:t>
            </a:r>
            <a:endParaRPr lang="en-US" sz="3200" dirty="0"/>
          </a:p>
        </p:txBody>
      </p:sp>
      <p:sp>
        <p:nvSpPr>
          <p:cNvPr id="4" name="Shape 2"/>
          <p:cNvSpPr/>
          <p:nvPr/>
        </p:nvSpPr>
        <p:spPr>
          <a:xfrm>
            <a:off x="640080" y="1920240"/>
            <a:ext cx="3429000" cy="1737360"/>
          </a:xfrm>
          <a:prstGeom prst="roundRect">
            <a:avLst>
              <a:gd name="adj" fmla="val 5263"/>
            </a:avLst>
          </a:prstGeom>
          <a:solidFill>
            <a:srgbClr val="0B1F3A"/>
          </a:solidFill>
          <a:ln/>
        </p:spPr>
        <p:txBody>
          <a:bodyPr/>
          <a:lstStyle/>
          <a:p>
            <a:endParaRPr lang="es-SV"/>
          </a:p>
        </p:txBody>
      </p:sp>
      <p:sp>
        <p:nvSpPr>
          <p:cNvPr id="5" name="Text 3"/>
          <p:cNvSpPr/>
          <p:nvPr/>
        </p:nvSpPr>
        <p:spPr>
          <a:xfrm>
            <a:off x="868680" y="2103120"/>
            <a:ext cx="2971800" cy="685800"/>
          </a:xfrm>
          <a:prstGeom prst="rect">
            <a:avLst/>
          </a:prstGeom>
          <a:noFill/>
          <a:ln/>
        </p:spPr>
        <p:txBody>
          <a:bodyPr wrap="square" rtlCol="0" anchor="ctr"/>
          <a:lstStyle/>
          <a:p>
            <a:pPr marL="0" indent="0">
              <a:buNone/>
            </a:pPr>
            <a:r>
              <a:rPr lang="en-US" sz="3000" b="1" dirty="0">
                <a:solidFill>
                  <a:srgbClr val="2FA66A"/>
                </a:solidFill>
                <a:latin typeface="Cambria" pitchFamily="34" charset="0"/>
                <a:ea typeface="Cambria" pitchFamily="34" charset="-122"/>
                <a:cs typeface="Cambria" pitchFamily="34" charset="-120"/>
              </a:rPr>
              <a:t>~820 MB</a:t>
            </a:r>
            <a:endParaRPr lang="en-US" sz="3000" dirty="0"/>
          </a:p>
        </p:txBody>
      </p:sp>
      <p:sp>
        <p:nvSpPr>
          <p:cNvPr id="6" name="Text 4"/>
          <p:cNvSpPr/>
          <p:nvPr/>
        </p:nvSpPr>
        <p:spPr>
          <a:xfrm>
            <a:off x="868680" y="2788920"/>
            <a:ext cx="2971800" cy="777240"/>
          </a:xfrm>
          <a:prstGeom prst="rect">
            <a:avLst/>
          </a:prstGeom>
          <a:noFill/>
          <a:ln/>
        </p:spPr>
        <p:txBody>
          <a:bodyPr wrap="square" rtlCol="0" anchor="ctr"/>
          <a:lstStyle/>
          <a:p>
            <a:pPr marL="0" indent="0">
              <a:lnSpc>
                <a:spcPct val="120000"/>
              </a:lnSpc>
              <a:buNone/>
            </a:pPr>
            <a:r>
              <a:rPr lang="en-US" sz="1200" dirty="0">
                <a:solidFill>
                  <a:srgbClr val="C9D6E3"/>
                </a:solidFill>
                <a:latin typeface="Calibri" pitchFamily="34" charset="0"/>
                <a:ea typeface="Calibri" pitchFamily="34" charset="-122"/>
                <a:cs typeface="Calibri" pitchFamily="34" charset="-120"/>
              </a:rPr>
              <a:t>de pesos descargados en build-time</a:t>
            </a:r>
            <a:endParaRPr lang="en-US" sz="1200" dirty="0"/>
          </a:p>
        </p:txBody>
      </p:sp>
      <p:sp>
        <p:nvSpPr>
          <p:cNvPr id="7" name="Shape 5"/>
          <p:cNvSpPr/>
          <p:nvPr/>
        </p:nvSpPr>
        <p:spPr>
          <a:xfrm>
            <a:off x="4343400" y="1920240"/>
            <a:ext cx="3429000" cy="1737360"/>
          </a:xfrm>
          <a:prstGeom prst="roundRect">
            <a:avLst>
              <a:gd name="adj" fmla="val 5263"/>
            </a:avLst>
          </a:prstGeom>
          <a:solidFill>
            <a:srgbClr val="0B1F3A"/>
          </a:solidFill>
          <a:ln/>
        </p:spPr>
        <p:txBody>
          <a:bodyPr/>
          <a:lstStyle/>
          <a:p>
            <a:endParaRPr lang="es-SV"/>
          </a:p>
        </p:txBody>
      </p:sp>
      <p:sp>
        <p:nvSpPr>
          <p:cNvPr id="8" name="Text 6"/>
          <p:cNvSpPr/>
          <p:nvPr/>
        </p:nvSpPr>
        <p:spPr>
          <a:xfrm>
            <a:off x="4572000" y="2103120"/>
            <a:ext cx="2971800" cy="685800"/>
          </a:xfrm>
          <a:prstGeom prst="rect">
            <a:avLst/>
          </a:prstGeom>
          <a:noFill/>
          <a:ln/>
        </p:spPr>
        <p:txBody>
          <a:bodyPr wrap="square" rtlCol="0" anchor="ctr"/>
          <a:lstStyle/>
          <a:p>
            <a:pPr marL="0" indent="0">
              <a:buNone/>
            </a:pPr>
            <a:r>
              <a:rPr lang="en-US" sz="3000" b="1" dirty="0">
                <a:solidFill>
                  <a:srgbClr val="2FA66A"/>
                </a:solidFill>
                <a:latin typeface="Cambria" pitchFamily="34" charset="0"/>
                <a:ea typeface="Cambria" pitchFamily="34" charset="-122"/>
                <a:cs typeface="Cambria" pitchFamily="34" charset="-120"/>
              </a:rPr>
              <a:t>3</a:t>
            </a:r>
            <a:endParaRPr lang="en-US" sz="3000" dirty="0"/>
          </a:p>
        </p:txBody>
      </p:sp>
      <p:sp>
        <p:nvSpPr>
          <p:cNvPr id="9" name="Text 7"/>
          <p:cNvSpPr/>
          <p:nvPr/>
        </p:nvSpPr>
        <p:spPr>
          <a:xfrm>
            <a:off x="4572000" y="2788920"/>
            <a:ext cx="2971800" cy="777240"/>
          </a:xfrm>
          <a:prstGeom prst="rect">
            <a:avLst/>
          </a:prstGeom>
          <a:noFill/>
          <a:ln/>
        </p:spPr>
        <p:txBody>
          <a:bodyPr wrap="square" rtlCol="0" anchor="ctr"/>
          <a:lstStyle/>
          <a:p>
            <a:pPr marL="0" indent="0">
              <a:lnSpc>
                <a:spcPct val="120000"/>
              </a:lnSpc>
              <a:buNone/>
            </a:pPr>
            <a:r>
              <a:rPr lang="en-US" sz="1200" dirty="0">
                <a:solidFill>
                  <a:srgbClr val="C9D6E3"/>
                </a:solidFill>
                <a:latin typeface="Calibri" pitchFamily="34" charset="0"/>
                <a:ea typeface="Calibri" pitchFamily="34" charset="-122"/>
                <a:cs typeface="Calibri" pitchFamily="34" charset="-120"/>
              </a:rPr>
              <a:t>modelos: Random Forest, RoBERTa URL, RoBERTa Content</a:t>
            </a:r>
            <a:endParaRPr lang="en-US" sz="1200" dirty="0"/>
          </a:p>
        </p:txBody>
      </p:sp>
      <p:sp>
        <p:nvSpPr>
          <p:cNvPr id="10" name="Shape 8"/>
          <p:cNvSpPr/>
          <p:nvPr/>
        </p:nvSpPr>
        <p:spPr>
          <a:xfrm>
            <a:off x="8046720" y="1920240"/>
            <a:ext cx="3429000" cy="1737360"/>
          </a:xfrm>
          <a:prstGeom prst="roundRect">
            <a:avLst>
              <a:gd name="adj" fmla="val 5263"/>
            </a:avLst>
          </a:prstGeom>
          <a:solidFill>
            <a:srgbClr val="0B1F3A"/>
          </a:solidFill>
          <a:ln/>
        </p:spPr>
        <p:txBody>
          <a:bodyPr/>
          <a:lstStyle/>
          <a:p>
            <a:endParaRPr lang="es-SV"/>
          </a:p>
        </p:txBody>
      </p:sp>
      <p:sp>
        <p:nvSpPr>
          <p:cNvPr id="11" name="Text 9"/>
          <p:cNvSpPr/>
          <p:nvPr/>
        </p:nvSpPr>
        <p:spPr>
          <a:xfrm>
            <a:off x="8275320" y="2103120"/>
            <a:ext cx="2971800" cy="685800"/>
          </a:xfrm>
          <a:prstGeom prst="rect">
            <a:avLst/>
          </a:prstGeom>
          <a:noFill/>
          <a:ln/>
        </p:spPr>
        <p:txBody>
          <a:bodyPr wrap="square" rtlCol="0" anchor="ctr"/>
          <a:lstStyle/>
          <a:p>
            <a:pPr marL="0" indent="0">
              <a:buNone/>
            </a:pPr>
            <a:r>
              <a:rPr lang="en-US" sz="3000" b="1" dirty="0">
                <a:solidFill>
                  <a:srgbClr val="2FA66A"/>
                </a:solidFill>
                <a:latin typeface="Cambria" pitchFamily="34" charset="0"/>
                <a:ea typeface="Cambria" pitchFamily="34" charset="-122"/>
                <a:cs typeface="Cambria" pitchFamily="34" charset="-120"/>
              </a:rPr>
              <a:t>60–90s</a:t>
            </a:r>
            <a:endParaRPr lang="en-US" sz="3000" dirty="0"/>
          </a:p>
        </p:txBody>
      </p:sp>
      <p:sp>
        <p:nvSpPr>
          <p:cNvPr id="12" name="Text 10"/>
          <p:cNvSpPr/>
          <p:nvPr/>
        </p:nvSpPr>
        <p:spPr>
          <a:xfrm>
            <a:off x="8275320" y="2788920"/>
            <a:ext cx="2971800" cy="777240"/>
          </a:xfrm>
          <a:prstGeom prst="rect">
            <a:avLst/>
          </a:prstGeom>
          <a:noFill/>
          <a:ln/>
        </p:spPr>
        <p:txBody>
          <a:bodyPr wrap="square" rtlCol="0" anchor="ctr"/>
          <a:lstStyle/>
          <a:p>
            <a:pPr marL="0" indent="0">
              <a:lnSpc>
                <a:spcPct val="120000"/>
              </a:lnSpc>
              <a:buNone/>
            </a:pPr>
            <a:r>
              <a:rPr lang="en-US" sz="1200" dirty="0">
                <a:solidFill>
                  <a:srgbClr val="C9D6E3"/>
                </a:solidFill>
                <a:latin typeface="Calibri" pitchFamily="34" charset="0"/>
                <a:ea typeface="Calibri" pitchFamily="34" charset="-122"/>
                <a:cs typeface="Calibri" pitchFamily="34" charset="-120"/>
              </a:rPr>
              <a:t>arranque en frío tras inactividad</a:t>
            </a:r>
            <a:endParaRPr lang="en-US" sz="1200" dirty="0"/>
          </a:p>
        </p:txBody>
      </p:sp>
      <p:sp>
        <p:nvSpPr>
          <p:cNvPr id="13" name="Text 11"/>
          <p:cNvSpPr/>
          <p:nvPr/>
        </p:nvSpPr>
        <p:spPr>
          <a:xfrm>
            <a:off x="640080" y="3977640"/>
            <a:ext cx="5486400" cy="36576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Pipeline de despliegue</a:t>
            </a:r>
            <a:endParaRPr lang="en-US" sz="1400" dirty="0"/>
          </a:p>
        </p:txBody>
      </p:sp>
      <p:sp>
        <p:nvSpPr>
          <p:cNvPr id="14" name="Shape 12"/>
          <p:cNvSpPr/>
          <p:nvPr/>
        </p:nvSpPr>
        <p:spPr>
          <a:xfrm>
            <a:off x="640080" y="4434840"/>
            <a:ext cx="2084832" cy="1051560"/>
          </a:xfrm>
          <a:prstGeom prst="roundRect">
            <a:avLst>
              <a:gd name="adj" fmla="val 6957"/>
            </a:avLst>
          </a:prstGeom>
          <a:solidFill>
            <a:srgbClr val="F6F8FA"/>
          </a:solidFill>
          <a:ln w="12700">
            <a:solidFill>
              <a:srgbClr val="D8E0E8"/>
            </a:solidFill>
            <a:prstDash val="solid"/>
          </a:ln>
        </p:spPr>
        <p:txBody>
          <a:bodyPr/>
          <a:lstStyle/>
          <a:p>
            <a:endParaRPr lang="es-SV"/>
          </a:p>
        </p:txBody>
      </p:sp>
      <p:sp>
        <p:nvSpPr>
          <p:cNvPr id="15" name="Text 13"/>
          <p:cNvSpPr/>
          <p:nvPr/>
        </p:nvSpPr>
        <p:spPr>
          <a:xfrm>
            <a:off x="731520" y="4434840"/>
            <a:ext cx="1901952" cy="1051560"/>
          </a:xfrm>
          <a:prstGeom prst="rect">
            <a:avLst/>
          </a:prstGeom>
          <a:noFill/>
          <a:ln/>
        </p:spPr>
        <p:txBody>
          <a:bodyPr wrap="square" rtlCol="0" anchor="ctr"/>
          <a:lstStyle/>
          <a:p>
            <a:pPr marL="0" indent="0" algn="ctr">
              <a:lnSpc>
                <a:spcPct val="105000"/>
              </a:lnSpc>
              <a:buNone/>
            </a:pPr>
            <a:r>
              <a:rPr lang="en-US" sz="1100" b="1" dirty="0">
                <a:solidFill>
                  <a:srgbClr val="1A1A1A"/>
                </a:solidFill>
                <a:latin typeface="Calibri" pitchFamily="34" charset="0"/>
                <a:ea typeface="Calibri" pitchFamily="34" charset="-122"/>
                <a:cs typeface="Calibri" pitchFamily="34" charset="-120"/>
              </a:rPr>
              <a:t>Push a main</a:t>
            </a:r>
            <a:endParaRPr lang="en-US" sz="1100" dirty="0"/>
          </a:p>
        </p:txBody>
      </p:sp>
      <p:sp>
        <p:nvSpPr>
          <p:cNvPr id="16" name="Text 14"/>
          <p:cNvSpPr/>
          <p:nvPr/>
        </p:nvSpPr>
        <p:spPr>
          <a:xfrm>
            <a:off x="2724912" y="4434840"/>
            <a:ext cx="137160" cy="1051560"/>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2862072" y="4434840"/>
            <a:ext cx="2084832" cy="1051560"/>
          </a:xfrm>
          <a:prstGeom prst="roundRect">
            <a:avLst>
              <a:gd name="adj" fmla="val 6957"/>
            </a:avLst>
          </a:prstGeom>
          <a:solidFill>
            <a:srgbClr val="F6F8FA"/>
          </a:solidFill>
          <a:ln w="12700">
            <a:solidFill>
              <a:srgbClr val="D8E0E8"/>
            </a:solidFill>
            <a:prstDash val="solid"/>
          </a:ln>
        </p:spPr>
        <p:txBody>
          <a:bodyPr/>
          <a:lstStyle/>
          <a:p>
            <a:endParaRPr lang="es-SV"/>
          </a:p>
        </p:txBody>
      </p:sp>
      <p:sp>
        <p:nvSpPr>
          <p:cNvPr id="18" name="Text 16"/>
          <p:cNvSpPr/>
          <p:nvPr/>
        </p:nvSpPr>
        <p:spPr>
          <a:xfrm>
            <a:off x="2953512" y="4434840"/>
            <a:ext cx="1901952" cy="1051560"/>
          </a:xfrm>
          <a:prstGeom prst="rect">
            <a:avLst/>
          </a:prstGeom>
          <a:noFill/>
          <a:ln/>
        </p:spPr>
        <p:txBody>
          <a:bodyPr wrap="square" rtlCol="0" anchor="ctr"/>
          <a:lstStyle/>
          <a:p>
            <a:pPr marL="0" indent="0" algn="ctr">
              <a:lnSpc>
                <a:spcPct val="105000"/>
              </a:lnSpc>
              <a:buNone/>
            </a:pPr>
            <a:r>
              <a:rPr lang="en-US" sz="1100" b="1" dirty="0">
                <a:solidFill>
                  <a:srgbClr val="1A1A1A"/>
                </a:solidFill>
                <a:latin typeface="Calibri" pitchFamily="34" charset="0"/>
                <a:ea typeface="Calibri" pitchFamily="34" charset="-122"/>
                <a:cs typeface="Calibri" pitchFamily="34" charset="-120"/>
              </a:rPr>
              <a:t>Build Docker</a:t>
            </a:r>
            <a:endParaRPr lang="en-US" sz="1100" dirty="0"/>
          </a:p>
          <a:p>
            <a:pPr marL="0" indent="0" algn="ctr">
              <a:lnSpc>
                <a:spcPct val="105000"/>
              </a:lnSpc>
              <a:buNone/>
            </a:pPr>
            <a:r>
              <a:rPr lang="en-US" sz="1100" b="1" dirty="0">
                <a:solidFill>
                  <a:srgbClr val="1A1A1A"/>
                </a:solidFill>
                <a:latin typeface="Calibri" pitchFamily="34" charset="0"/>
                <a:ea typeface="Calibri" pitchFamily="34" charset="-122"/>
                <a:cs typeface="Calibri" pitchFamily="34" charset="-120"/>
              </a:rPr>
              <a:t>+ descarga HF Hub</a:t>
            </a:r>
            <a:endParaRPr lang="en-US" sz="1100" dirty="0"/>
          </a:p>
        </p:txBody>
      </p:sp>
      <p:sp>
        <p:nvSpPr>
          <p:cNvPr id="19" name="Text 17"/>
          <p:cNvSpPr/>
          <p:nvPr/>
        </p:nvSpPr>
        <p:spPr>
          <a:xfrm>
            <a:off x="4946904" y="4434840"/>
            <a:ext cx="137160" cy="1051560"/>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5084064" y="4434840"/>
            <a:ext cx="2084832" cy="1051560"/>
          </a:xfrm>
          <a:prstGeom prst="roundRect">
            <a:avLst>
              <a:gd name="adj" fmla="val 6957"/>
            </a:avLst>
          </a:prstGeom>
          <a:solidFill>
            <a:srgbClr val="F6F8FA"/>
          </a:solidFill>
          <a:ln w="12700">
            <a:solidFill>
              <a:srgbClr val="D8E0E8"/>
            </a:solidFill>
            <a:prstDash val="solid"/>
          </a:ln>
        </p:spPr>
        <p:txBody>
          <a:bodyPr/>
          <a:lstStyle/>
          <a:p>
            <a:endParaRPr lang="es-SV"/>
          </a:p>
        </p:txBody>
      </p:sp>
      <p:sp>
        <p:nvSpPr>
          <p:cNvPr id="21" name="Text 19"/>
          <p:cNvSpPr/>
          <p:nvPr/>
        </p:nvSpPr>
        <p:spPr>
          <a:xfrm>
            <a:off x="5175504" y="4434840"/>
            <a:ext cx="1901952" cy="1051560"/>
          </a:xfrm>
          <a:prstGeom prst="rect">
            <a:avLst/>
          </a:prstGeom>
          <a:noFill/>
          <a:ln/>
        </p:spPr>
        <p:txBody>
          <a:bodyPr wrap="square" rtlCol="0" anchor="ctr"/>
          <a:lstStyle/>
          <a:p>
            <a:pPr marL="0" indent="0" algn="ctr">
              <a:lnSpc>
                <a:spcPct val="105000"/>
              </a:lnSpc>
              <a:buNone/>
            </a:pPr>
            <a:r>
              <a:rPr lang="en-US" sz="1100" b="1" dirty="0">
                <a:solidFill>
                  <a:srgbClr val="1A1A1A"/>
                </a:solidFill>
                <a:latin typeface="Calibri" pitchFamily="34" charset="0"/>
                <a:ea typeface="Calibri" pitchFamily="34" charset="-122"/>
                <a:cs typeface="Calibri" pitchFamily="34" charset="-120"/>
              </a:rPr>
              <a:t>GitHub Actions</a:t>
            </a:r>
            <a:endParaRPr lang="en-US" sz="1100" dirty="0"/>
          </a:p>
          <a:p>
            <a:pPr marL="0" indent="0" algn="ctr">
              <a:lnSpc>
                <a:spcPct val="105000"/>
              </a:lnSpc>
              <a:buNone/>
            </a:pPr>
            <a:r>
              <a:rPr lang="en-US" sz="1100" b="1" dirty="0">
                <a:solidFill>
                  <a:srgbClr val="1A1A1A"/>
                </a:solidFill>
                <a:latin typeface="Calibri" pitchFamily="34" charset="0"/>
                <a:ea typeface="Calibri" pitchFamily="34" charset="-122"/>
                <a:cs typeface="Calibri" pitchFamily="34" charset="-120"/>
              </a:rPr>
              <a:t>lint + 535 tests</a:t>
            </a:r>
            <a:endParaRPr lang="en-US" sz="1100" dirty="0"/>
          </a:p>
        </p:txBody>
      </p:sp>
      <p:sp>
        <p:nvSpPr>
          <p:cNvPr id="22" name="Text 20"/>
          <p:cNvSpPr/>
          <p:nvPr/>
        </p:nvSpPr>
        <p:spPr>
          <a:xfrm>
            <a:off x="7168896" y="4434840"/>
            <a:ext cx="137160" cy="1051560"/>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7306056" y="4434840"/>
            <a:ext cx="2084832" cy="1051560"/>
          </a:xfrm>
          <a:prstGeom prst="roundRect">
            <a:avLst>
              <a:gd name="adj" fmla="val 6957"/>
            </a:avLst>
          </a:prstGeom>
          <a:solidFill>
            <a:srgbClr val="F6F8FA"/>
          </a:solidFill>
          <a:ln w="12700">
            <a:solidFill>
              <a:srgbClr val="D8E0E8"/>
            </a:solidFill>
            <a:prstDash val="solid"/>
          </a:ln>
        </p:spPr>
        <p:txBody>
          <a:bodyPr/>
          <a:lstStyle/>
          <a:p>
            <a:endParaRPr lang="es-SV"/>
          </a:p>
        </p:txBody>
      </p:sp>
      <p:sp>
        <p:nvSpPr>
          <p:cNvPr id="24" name="Text 22"/>
          <p:cNvSpPr/>
          <p:nvPr/>
        </p:nvSpPr>
        <p:spPr>
          <a:xfrm>
            <a:off x="7397496" y="4434840"/>
            <a:ext cx="1901952" cy="1051560"/>
          </a:xfrm>
          <a:prstGeom prst="rect">
            <a:avLst/>
          </a:prstGeom>
          <a:noFill/>
          <a:ln/>
        </p:spPr>
        <p:txBody>
          <a:bodyPr wrap="square" rtlCol="0" anchor="ctr"/>
          <a:lstStyle/>
          <a:p>
            <a:pPr marL="0" indent="0" algn="ctr">
              <a:lnSpc>
                <a:spcPct val="105000"/>
              </a:lnSpc>
              <a:buNone/>
            </a:pPr>
            <a:r>
              <a:rPr lang="en-US" sz="1100" b="1" dirty="0">
                <a:solidFill>
                  <a:srgbClr val="1A1A1A"/>
                </a:solidFill>
                <a:latin typeface="Calibri" pitchFamily="34" charset="0"/>
                <a:ea typeface="Calibri" pitchFamily="34" charset="-122"/>
                <a:cs typeface="Calibri" pitchFamily="34" charset="-120"/>
              </a:rPr>
              <a:t>Deploy en Render</a:t>
            </a:r>
            <a:endParaRPr lang="en-US" sz="1100" dirty="0"/>
          </a:p>
        </p:txBody>
      </p:sp>
      <p:sp>
        <p:nvSpPr>
          <p:cNvPr id="25" name="Text 23"/>
          <p:cNvSpPr/>
          <p:nvPr/>
        </p:nvSpPr>
        <p:spPr>
          <a:xfrm>
            <a:off x="9390888" y="4434840"/>
            <a:ext cx="137160" cy="1051560"/>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9528048" y="4434840"/>
            <a:ext cx="2084832" cy="1051560"/>
          </a:xfrm>
          <a:prstGeom prst="roundRect">
            <a:avLst>
              <a:gd name="adj" fmla="val 6957"/>
            </a:avLst>
          </a:prstGeom>
          <a:solidFill>
            <a:srgbClr val="2FA66A"/>
          </a:solidFill>
          <a:ln w="12700">
            <a:solidFill>
              <a:srgbClr val="D8E0E8"/>
            </a:solidFill>
            <a:prstDash val="solid"/>
          </a:ln>
        </p:spPr>
        <p:txBody>
          <a:bodyPr/>
          <a:lstStyle/>
          <a:p>
            <a:endParaRPr lang="es-SV"/>
          </a:p>
        </p:txBody>
      </p:sp>
      <p:sp>
        <p:nvSpPr>
          <p:cNvPr id="27" name="Text 25"/>
          <p:cNvSpPr/>
          <p:nvPr/>
        </p:nvSpPr>
        <p:spPr>
          <a:xfrm>
            <a:off x="9619488" y="4434840"/>
            <a:ext cx="1901952" cy="105156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Smoke test</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/predict real</a:t>
            </a:r>
            <a:endParaRPr lang="en-US" sz="1100" dirty="0"/>
          </a:p>
        </p:txBody>
      </p:sp>
      <p:sp>
        <p:nvSpPr>
          <p:cNvPr id="29" name="Shape 27"/>
          <p:cNvSpPr/>
          <p:nvPr/>
        </p:nvSpPr>
        <p:spPr>
          <a:xfrm>
            <a:off x="548640" y="6382512"/>
            <a:ext cx="128016" cy="128016"/>
          </a:xfrm>
          <a:prstGeom prst="ellipse">
            <a:avLst/>
          </a:prstGeom>
          <a:solidFill>
            <a:srgbClr val="132A4E"/>
          </a:solidFill>
          <a:ln/>
        </p:spPr>
        <p:txBody>
          <a:bodyPr/>
          <a:lstStyle/>
          <a:p>
            <a:endParaRPr lang="es-SV"/>
          </a:p>
        </p:txBody>
      </p:sp>
      <p:sp>
        <p:nvSpPr>
          <p:cNvPr id="30" name="Text 28"/>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32" name="Text 18">
            <a:extLst>
              <a:ext uri="{FF2B5EF4-FFF2-40B4-BE49-F238E27FC236}">
                <a16:creationId xmlns:a16="http://schemas.microsoft.com/office/drawing/2014/main" id="{48063323-ECE9-FFB3-AE9E-969A8E24B1E2}"/>
              </a:ext>
            </a:extLst>
          </p:cNvPr>
          <p:cNvSpPr/>
          <p:nvPr/>
        </p:nvSpPr>
        <p:spPr>
          <a:xfrm>
            <a:off x="676656" y="6345936"/>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32A4E"/>
                </a:solidFill>
                <a:latin typeface="Calibri" pitchFamily="34" charset="0"/>
                <a:ea typeface="Calibri" pitchFamily="34" charset="-122"/>
                <a:cs typeface="Calibri" pitchFamily="34" charset="-120"/>
              </a:rPr>
              <a:t>RENDIMIENTO Y ESCALABILIDAD</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El cuello de botella no fue velocidad — fue memoria</a:t>
            </a:r>
            <a:endParaRPr lang="en-US" sz="3200" dirty="0"/>
          </a:p>
        </p:txBody>
      </p:sp>
      <p:sp>
        <p:nvSpPr>
          <p:cNvPr id="4" name="Shape 2"/>
          <p:cNvSpPr/>
          <p:nvPr/>
        </p:nvSpPr>
        <p:spPr>
          <a:xfrm>
            <a:off x="640080" y="1920240"/>
            <a:ext cx="5120640" cy="2331720"/>
          </a:xfrm>
          <a:prstGeom prst="roundRect">
            <a:avLst>
              <a:gd name="adj" fmla="val 3922"/>
            </a:avLst>
          </a:prstGeom>
          <a:solidFill>
            <a:srgbClr val="FBEAEA"/>
          </a:solidFill>
          <a:ln/>
        </p:spPr>
        <p:txBody>
          <a:bodyPr/>
          <a:lstStyle/>
          <a:p>
            <a:endParaRPr lang="es-SV"/>
          </a:p>
        </p:txBody>
      </p:sp>
      <p:sp>
        <p:nvSpPr>
          <p:cNvPr id="5" name="Text 3"/>
          <p:cNvSpPr/>
          <p:nvPr/>
        </p:nvSpPr>
        <p:spPr>
          <a:xfrm>
            <a:off x="914400" y="2103120"/>
            <a:ext cx="4572000" cy="320040"/>
          </a:xfrm>
          <a:prstGeom prst="rect">
            <a:avLst/>
          </a:prstGeom>
          <a:noFill/>
          <a:ln/>
        </p:spPr>
        <p:txBody>
          <a:bodyPr wrap="square" rtlCol="0" anchor="ctr"/>
          <a:lstStyle/>
          <a:p>
            <a:pPr marL="0" indent="0">
              <a:buNone/>
            </a:pPr>
            <a:r>
              <a:rPr lang="en-US" sz="1200" b="1" dirty="0">
                <a:solidFill>
                  <a:srgbClr val="D64550"/>
                </a:solidFill>
                <a:latin typeface="Calibri" pitchFamily="34" charset="0"/>
                <a:ea typeface="Calibri" pitchFamily="34" charset="-122"/>
                <a:cs typeface="Calibri" pitchFamily="34" charset="-120"/>
              </a:rPr>
              <a:t>ANTES — con cuantización int8</a:t>
            </a:r>
            <a:endParaRPr lang="en-US" sz="1200" dirty="0"/>
          </a:p>
        </p:txBody>
      </p:sp>
      <p:sp>
        <p:nvSpPr>
          <p:cNvPr id="6" name="Text 4"/>
          <p:cNvSpPr/>
          <p:nvPr/>
        </p:nvSpPr>
        <p:spPr>
          <a:xfrm>
            <a:off x="914400" y="2423160"/>
            <a:ext cx="4572000" cy="777240"/>
          </a:xfrm>
          <a:prstGeom prst="rect">
            <a:avLst/>
          </a:prstGeom>
          <a:noFill/>
          <a:ln/>
        </p:spPr>
        <p:txBody>
          <a:bodyPr wrap="square" rtlCol="0" anchor="ctr"/>
          <a:lstStyle/>
          <a:p>
            <a:pPr marL="0" indent="0">
              <a:buNone/>
            </a:pPr>
            <a:r>
              <a:rPr lang="en-US" sz="4000" b="1" dirty="0">
                <a:solidFill>
                  <a:srgbClr val="D64550"/>
                </a:solidFill>
                <a:latin typeface="Cambria" pitchFamily="34" charset="0"/>
                <a:ea typeface="Cambria" pitchFamily="34" charset="-122"/>
                <a:cs typeface="Cambria" pitchFamily="34" charset="-120"/>
              </a:rPr>
              <a:t>1213 MB</a:t>
            </a:r>
            <a:endParaRPr lang="en-US" sz="4000" dirty="0"/>
          </a:p>
        </p:txBody>
      </p:sp>
      <p:sp>
        <p:nvSpPr>
          <p:cNvPr id="7" name="Text 5"/>
          <p:cNvSpPr/>
          <p:nvPr/>
        </p:nvSpPr>
        <p:spPr>
          <a:xfrm>
            <a:off x="914400" y="3246120"/>
            <a:ext cx="4572000" cy="822960"/>
          </a:xfrm>
          <a:prstGeom prst="rect">
            <a:avLst/>
          </a:prstGeom>
          <a:noFill/>
          <a:ln/>
        </p:spPr>
        <p:txBody>
          <a:bodyPr wrap="square" rtlCol="0" anchor="ctr"/>
          <a:lstStyle/>
          <a:p>
            <a:pPr marL="0" indent="0">
              <a:lnSpc>
                <a:spcPct val="120000"/>
              </a:lnSpc>
              <a:buNone/>
            </a:pPr>
            <a:r>
              <a:rPr lang="en-US" sz="1200" dirty="0">
                <a:solidFill>
                  <a:srgbClr val="8A4A4A"/>
                </a:solidFill>
                <a:latin typeface="Calibri" pitchFamily="34" charset="0"/>
                <a:ea typeface="Calibri" pitchFamily="34" charset="-122"/>
                <a:cs typeface="Calibri" pitchFamily="34" charset="-120"/>
              </a:rPr>
              <a:t>Pico de +735 MB al materializar pesos · 502 en producción (OOM-kill)</a:t>
            </a:r>
            <a:endParaRPr lang="en-US" sz="1200" dirty="0"/>
          </a:p>
        </p:txBody>
      </p:sp>
      <p:sp>
        <p:nvSpPr>
          <p:cNvPr id="8" name="Shape 6"/>
          <p:cNvSpPr/>
          <p:nvPr/>
        </p:nvSpPr>
        <p:spPr>
          <a:xfrm>
            <a:off x="6035040" y="1920240"/>
            <a:ext cx="5120640" cy="2331720"/>
          </a:xfrm>
          <a:prstGeom prst="roundRect">
            <a:avLst>
              <a:gd name="adj" fmla="val 3922"/>
            </a:avLst>
          </a:prstGeom>
          <a:solidFill>
            <a:srgbClr val="E7F5EE"/>
          </a:solidFill>
          <a:ln/>
        </p:spPr>
        <p:txBody>
          <a:bodyPr/>
          <a:lstStyle/>
          <a:p>
            <a:endParaRPr lang="es-SV"/>
          </a:p>
        </p:txBody>
      </p:sp>
      <p:sp>
        <p:nvSpPr>
          <p:cNvPr id="9" name="Text 7"/>
          <p:cNvSpPr/>
          <p:nvPr/>
        </p:nvSpPr>
        <p:spPr>
          <a:xfrm>
            <a:off x="6309360" y="2103120"/>
            <a:ext cx="4572000" cy="320040"/>
          </a:xfrm>
          <a:prstGeom prst="rect">
            <a:avLst/>
          </a:prstGeom>
          <a:noFill/>
          <a:ln/>
        </p:spPr>
        <p:txBody>
          <a:bodyPr wrap="square" rtlCol="0" anchor="ctr"/>
          <a:lstStyle/>
          <a:p>
            <a:pPr marL="0" indent="0">
              <a:buNone/>
            </a:pPr>
            <a:r>
              <a:rPr lang="en-US" sz="1200" b="1" dirty="0">
                <a:solidFill>
                  <a:srgbClr val="2FA66A"/>
                </a:solidFill>
                <a:latin typeface="Calibri" pitchFamily="34" charset="0"/>
                <a:ea typeface="Calibri" pitchFamily="34" charset="-122"/>
                <a:cs typeface="Calibri" pitchFamily="34" charset="-120"/>
              </a:rPr>
              <a:t>DESPUÉS — sin cuantización</a:t>
            </a:r>
            <a:endParaRPr lang="en-US" sz="1200" dirty="0"/>
          </a:p>
        </p:txBody>
      </p:sp>
      <p:sp>
        <p:nvSpPr>
          <p:cNvPr id="10" name="Text 8"/>
          <p:cNvSpPr/>
          <p:nvPr/>
        </p:nvSpPr>
        <p:spPr>
          <a:xfrm>
            <a:off x="6309360" y="2423160"/>
            <a:ext cx="4572000" cy="777240"/>
          </a:xfrm>
          <a:prstGeom prst="rect">
            <a:avLst/>
          </a:prstGeom>
          <a:noFill/>
          <a:ln/>
        </p:spPr>
        <p:txBody>
          <a:bodyPr wrap="square" rtlCol="0" anchor="ctr"/>
          <a:lstStyle/>
          <a:p>
            <a:pPr marL="0" indent="0">
              <a:buNone/>
            </a:pPr>
            <a:r>
              <a:rPr lang="en-US" sz="4000" b="1" dirty="0">
                <a:solidFill>
                  <a:srgbClr val="2FA66A"/>
                </a:solidFill>
                <a:latin typeface="Cambria" pitchFamily="34" charset="0"/>
                <a:ea typeface="Cambria" pitchFamily="34" charset="-122"/>
                <a:cs typeface="Cambria" pitchFamily="34" charset="-120"/>
              </a:rPr>
              <a:t>791 MB</a:t>
            </a:r>
            <a:endParaRPr lang="en-US" sz="4000" dirty="0"/>
          </a:p>
        </p:txBody>
      </p:sp>
      <p:sp>
        <p:nvSpPr>
          <p:cNvPr id="11" name="Text 9"/>
          <p:cNvSpPr/>
          <p:nvPr/>
        </p:nvSpPr>
        <p:spPr>
          <a:xfrm>
            <a:off x="6309360" y="3246120"/>
            <a:ext cx="4572000" cy="822960"/>
          </a:xfrm>
          <a:prstGeom prst="rect">
            <a:avLst/>
          </a:prstGeom>
          <a:noFill/>
          <a:ln/>
        </p:spPr>
        <p:txBody>
          <a:bodyPr wrap="square" rtlCol="0" anchor="ctr"/>
          <a:lstStyle/>
          <a:p>
            <a:pPr marL="0" indent="0">
              <a:lnSpc>
                <a:spcPct val="120000"/>
              </a:lnSpc>
              <a:buNone/>
            </a:pPr>
            <a:r>
              <a:rPr lang="en-US" sz="1200" dirty="0">
                <a:solidFill>
                  <a:srgbClr val="3E7A5C"/>
                </a:solidFill>
                <a:latin typeface="Calibri" pitchFamily="34" charset="0"/>
                <a:ea typeface="Calibri" pitchFamily="34" charset="-122"/>
                <a:cs typeface="Calibri" pitchFamily="34" charset="-120"/>
              </a:rPr>
              <a:t>Ganaba solo 1.96 ms/URL en un pipeline de 3–8s dominado por red</a:t>
            </a:r>
            <a:endParaRPr lang="en-US" sz="1200" dirty="0"/>
          </a:p>
        </p:txBody>
      </p:sp>
      <p:sp>
        <p:nvSpPr>
          <p:cNvPr id="12" name="Text 10"/>
          <p:cNvSpPr/>
          <p:nvPr/>
        </p:nvSpPr>
        <p:spPr>
          <a:xfrm>
            <a:off x="640080" y="4526280"/>
            <a:ext cx="10515600" cy="548640"/>
          </a:xfrm>
          <a:prstGeom prst="rect">
            <a:avLst/>
          </a:prstGeom>
          <a:noFill/>
          <a:ln/>
        </p:spPr>
        <p:txBody>
          <a:bodyPr wrap="square" rtlCol="0" anchor="ctr"/>
          <a:lstStyle/>
          <a:p>
            <a:pPr marL="0" indent="0">
              <a:buNone/>
            </a:pPr>
            <a:r>
              <a:rPr lang="en-US" sz="1300" i="1" dirty="0">
                <a:solidFill>
                  <a:srgbClr val="1A1A1A"/>
                </a:solidFill>
                <a:latin typeface="Calibri" pitchFamily="34" charset="0"/>
                <a:ea typeface="Calibri" pitchFamily="34" charset="-122"/>
                <a:cs typeface="Calibri" pitchFamily="34" charset="-120"/>
              </a:rPr>
              <a:t>Control agregado: semáforo de concurrencia (MAX_CONCURRENT_ANALYSES) — serializa los análisis en vez de dejar que la memoria pico se multiplique.</a:t>
            </a:r>
            <a:endParaRPr lang="en-US" sz="1300" dirty="0"/>
          </a:p>
        </p:txBody>
      </p:sp>
      <p:sp>
        <p:nvSpPr>
          <p:cNvPr id="13" name="Text 11"/>
          <p:cNvSpPr/>
          <p:nvPr/>
        </p:nvSpPr>
        <p:spPr>
          <a:xfrm>
            <a:off x="640080" y="5120640"/>
            <a:ext cx="10515600" cy="5486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Plan de escalabilidad: instancia con más RAM en Render, o Random Forest con menos árboles una vez exista un set de validación etiquetado.</a:t>
            </a:r>
            <a:endParaRPr lang="en-US" sz="1300" dirty="0"/>
          </a:p>
        </p:txBody>
      </p:sp>
      <p:sp>
        <p:nvSpPr>
          <p:cNvPr id="14" name="Shape 12"/>
          <p:cNvSpPr/>
          <p:nvPr/>
        </p:nvSpPr>
        <p:spPr>
          <a:xfrm>
            <a:off x="548640" y="6382512"/>
            <a:ext cx="128016" cy="128016"/>
          </a:xfrm>
          <a:prstGeom prst="ellipse">
            <a:avLst/>
          </a:prstGeom>
          <a:solidFill>
            <a:srgbClr val="132A4E"/>
          </a:solidFill>
          <a:ln/>
        </p:spPr>
        <p:txBody>
          <a:bodyPr/>
          <a:lstStyle/>
          <a:p>
            <a:endParaRPr lang="es-SV"/>
          </a:p>
        </p:txBody>
      </p:sp>
      <p:sp>
        <p:nvSpPr>
          <p:cNvPr id="15" name="Text 13"/>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17" name="Text 18">
            <a:extLst>
              <a:ext uri="{FF2B5EF4-FFF2-40B4-BE49-F238E27FC236}">
                <a16:creationId xmlns:a16="http://schemas.microsoft.com/office/drawing/2014/main" id="{9C008E4A-B6E0-5816-86B4-90007A88EF4A}"/>
              </a:ext>
            </a:extLst>
          </p:cNvPr>
          <p:cNvSpPr/>
          <p:nvPr/>
        </p:nvSpPr>
        <p:spPr>
          <a:xfrm>
            <a:off x="777239" y="6345936"/>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E0A62E"/>
                </a:solidFill>
                <a:latin typeface="Calibri" pitchFamily="34" charset="0"/>
                <a:ea typeface="Calibri" pitchFamily="34" charset="-122"/>
                <a:cs typeface="Calibri" pitchFamily="34" charset="-120"/>
              </a:rPr>
              <a:t>RIESGO, SEGURIDAD Y RELEASE</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Defensas explícitas para una entrada que no es confiable</a:t>
            </a:r>
            <a:endParaRPr lang="en-US" sz="3200" dirty="0"/>
          </a:p>
        </p:txBody>
      </p:sp>
      <p:sp>
        <p:nvSpPr>
          <p:cNvPr id="4" name="Shape 2"/>
          <p:cNvSpPr/>
          <p:nvPr/>
        </p:nvSpPr>
        <p:spPr>
          <a:xfrm>
            <a:off x="640080" y="1920240"/>
            <a:ext cx="658368" cy="658368"/>
          </a:xfrm>
          <a:prstGeom prst="ellipse">
            <a:avLst/>
          </a:prstGeom>
          <a:solidFill>
            <a:srgbClr val="E0A62E"/>
          </a:solidFill>
          <a:ln/>
        </p:spPr>
        <p:txBody>
          <a:bodyPr/>
          <a:lstStyle/>
          <a:p>
            <a:endParaRPr lang="es-SV"/>
          </a:p>
        </p:txBody>
      </p:sp>
      <p:sp>
        <p:nvSpPr>
          <p:cNvPr id="5" name="Text 3"/>
          <p:cNvSpPr/>
          <p:nvPr/>
        </p:nvSpPr>
        <p:spPr>
          <a:xfrm>
            <a:off x="640080" y="1920240"/>
            <a:ext cx="658368" cy="658368"/>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1463040" y="1874520"/>
            <a:ext cx="4480560" cy="36576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SSRF Guard</a:t>
            </a:r>
            <a:endParaRPr lang="en-US" sz="1400" dirty="0"/>
          </a:p>
        </p:txBody>
      </p:sp>
      <p:sp>
        <p:nvSpPr>
          <p:cNvPr id="7" name="Text 5"/>
          <p:cNvSpPr/>
          <p:nvPr/>
        </p:nvSpPr>
        <p:spPr>
          <a:xfrm>
            <a:off x="1463040" y="2240280"/>
            <a:ext cx="4480560" cy="548640"/>
          </a:xfrm>
          <a:prstGeom prst="rect">
            <a:avLst/>
          </a:prstGeom>
          <a:noFill/>
          <a:ln/>
        </p:spPr>
        <p:txBody>
          <a:bodyPr wrap="square" rtlCol="0" anchor="ctr"/>
          <a:lstStyle/>
          <a:p>
            <a:pPr marL="0" indent="0">
              <a:lnSpc>
                <a:spcPct val="115000"/>
              </a:lnSpc>
              <a:buNone/>
            </a:pPr>
            <a:r>
              <a:rPr lang="en-US" sz="1200" dirty="0">
                <a:solidFill>
                  <a:srgbClr val="5B6B7A"/>
                </a:solidFill>
                <a:latin typeface="Calibri" pitchFamily="34" charset="0"/>
                <a:ea typeface="Calibri" pitchFamily="34" charset="-122"/>
                <a:cs typeface="Calibri" pitchFamily="34" charset="-120"/>
              </a:rPr>
              <a:t>Rechaza IPs privadas / metadatos de nube en cada redirect</a:t>
            </a:r>
            <a:endParaRPr lang="en-US" sz="1200" dirty="0"/>
          </a:p>
        </p:txBody>
      </p:sp>
      <p:sp>
        <p:nvSpPr>
          <p:cNvPr id="8" name="Shape 6"/>
          <p:cNvSpPr/>
          <p:nvPr/>
        </p:nvSpPr>
        <p:spPr>
          <a:xfrm>
            <a:off x="6126480" y="1920240"/>
            <a:ext cx="658368" cy="658368"/>
          </a:xfrm>
          <a:prstGeom prst="ellipse">
            <a:avLst/>
          </a:prstGeom>
          <a:solidFill>
            <a:srgbClr val="E0A62E"/>
          </a:solidFill>
          <a:ln/>
        </p:spPr>
        <p:txBody>
          <a:bodyPr/>
          <a:lstStyle/>
          <a:p>
            <a:endParaRPr lang="es-SV"/>
          </a:p>
        </p:txBody>
      </p:sp>
      <p:sp>
        <p:nvSpPr>
          <p:cNvPr id="9" name="Text 7"/>
          <p:cNvSpPr/>
          <p:nvPr/>
        </p:nvSpPr>
        <p:spPr>
          <a:xfrm>
            <a:off x="6126480" y="1920240"/>
            <a:ext cx="658368" cy="658368"/>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6949440" y="1874520"/>
            <a:ext cx="4480560" cy="36576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Rate limit</a:t>
            </a:r>
            <a:endParaRPr lang="en-US" sz="1400" dirty="0"/>
          </a:p>
        </p:txBody>
      </p:sp>
      <p:sp>
        <p:nvSpPr>
          <p:cNvPr id="11" name="Text 9"/>
          <p:cNvSpPr/>
          <p:nvPr/>
        </p:nvSpPr>
        <p:spPr>
          <a:xfrm>
            <a:off x="6949440" y="2240280"/>
            <a:ext cx="4480560" cy="548640"/>
          </a:xfrm>
          <a:prstGeom prst="rect">
            <a:avLst/>
          </a:prstGeom>
          <a:noFill/>
          <a:ln/>
        </p:spPr>
        <p:txBody>
          <a:bodyPr wrap="square" rtlCol="0" anchor="ctr"/>
          <a:lstStyle/>
          <a:p>
            <a:pPr marL="0" indent="0">
              <a:lnSpc>
                <a:spcPct val="115000"/>
              </a:lnSpc>
              <a:buNone/>
            </a:pPr>
            <a:r>
              <a:rPr lang="en-US" sz="1200" dirty="0">
                <a:solidFill>
                  <a:srgbClr val="5B6B7A"/>
                </a:solidFill>
                <a:latin typeface="Calibri" pitchFamily="34" charset="0"/>
                <a:ea typeface="Calibri" pitchFamily="34" charset="-122"/>
                <a:cs typeface="Calibri" pitchFamily="34" charset="-120"/>
              </a:rPr>
              <a:t>30 solicitudes / 60s por IP</a:t>
            </a:r>
            <a:endParaRPr lang="en-US" sz="1200" dirty="0"/>
          </a:p>
        </p:txBody>
      </p:sp>
      <p:sp>
        <p:nvSpPr>
          <p:cNvPr id="12" name="Shape 10"/>
          <p:cNvSpPr/>
          <p:nvPr/>
        </p:nvSpPr>
        <p:spPr>
          <a:xfrm>
            <a:off x="640080" y="3337560"/>
            <a:ext cx="658368" cy="658368"/>
          </a:xfrm>
          <a:prstGeom prst="ellipse">
            <a:avLst/>
          </a:prstGeom>
          <a:solidFill>
            <a:srgbClr val="E0A62E"/>
          </a:solidFill>
          <a:ln/>
        </p:spPr>
        <p:txBody>
          <a:bodyPr/>
          <a:lstStyle/>
          <a:p>
            <a:endParaRPr lang="es-SV"/>
          </a:p>
        </p:txBody>
      </p:sp>
      <p:sp>
        <p:nvSpPr>
          <p:cNvPr id="13" name="Text 11"/>
          <p:cNvSpPr/>
          <p:nvPr/>
        </p:nvSpPr>
        <p:spPr>
          <a:xfrm>
            <a:off x="640080" y="3337560"/>
            <a:ext cx="658368" cy="658368"/>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1463040" y="3291840"/>
            <a:ext cx="4480560" cy="36576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Circuit breaker</a:t>
            </a:r>
            <a:endParaRPr lang="en-US" sz="1400" dirty="0"/>
          </a:p>
        </p:txBody>
      </p:sp>
      <p:sp>
        <p:nvSpPr>
          <p:cNvPr id="15" name="Text 13"/>
          <p:cNvSpPr/>
          <p:nvPr/>
        </p:nvSpPr>
        <p:spPr>
          <a:xfrm>
            <a:off x="1463040" y="3657600"/>
            <a:ext cx="4480560" cy="548640"/>
          </a:xfrm>
          <a:prstGeom prst="rect">
            <a:avLst/>
          </a:prstGeom>
          <a:noFill/>
          <a:ln/>
        </p:spPr>
        <p:txBody>
          <a:bodyPr wrap="square" rtlCol="0" anchor="ctr"/>
          <a:lstStyle/>
          <a:p>
            <a:pPr marL="0" indent="0">
              <a:lnSpc>
                <a:spcPct val="115000"/>
              </a:lnSpc>
              <a:buNone/>
            </a:pPr>
            <a:r>
              <a:rPr lang="en-US" sz="1200" dirty="0">
                <a:solidFill>
                  <a:srgbClr val="5B6B7A"/>
                </a:solidFill>
                <a:latin typeface="Calibri" pitchFamily="34" charset="0"/>
                <a:ea typeface="Calibri" pitchFamily="34" charset="-122"/>
                <a:cs typeface="Calibri" pitchFamily="34" charset="-120"/>
              </a:rPr>
              <a:t>Protege la cuota de VirusTotal</a:t>
            </a:r>
            <a:endParaRPr lang="en-US" sz="1200" dirty="0"/>
          </a:p>
        </p:txBody>
      </p:sp>
      <p:sp>
        <p:nvSpPr>
          <p:cNvPr id="16" name="Shape 14"/>
          <p:cNvSpPr/>
          <p:nvPr/>
        </p:nvSpPr>
        <p:spPr>
          <a:xfrm>
            <a:off x="6126480" y="3337560"/>
            <a:ext cx="658368" cy="658368"/>
          </a:xfrm>
          <a:prstGeom prst="ellipse">
            <a:avLst/>
          </a:prstGeom>
          <a:solidFill>
            <a:srgbClr val="E0A62E"/>
          </a:solidFill>
          <a:ln/>
        </p:spPr>
        <p:txBody>
          <a:bodyPr/>
          <a:lstStyle/>
          <a:p>
            <a:endParaRPr lang="es-SV"/>
          </a:p>
        </p:txBody>
      </p:sp>
      <p:sp>
        <p:nvSpPr>
          <p:cNvPr id="17" name="Text 15"/>
          <p:cNvSpPr/>
          <p:nvPr/>
        </p:nvSpPr>
        <p:spPr>
          <a:xfrm>
            <a:off x="6126480" y="3337560"/>
            <a:ext cx="658368" cy="658368"/>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8" name="Text 16"/>
          <p:cNvSpPr/>
          <p:nvPr/>
        </p:nvSpPr>
        <p:spPr>
          <a:xfrm>
            <a:off x="6949440" y="3291840"/>
            <a:ext cx="4480560" cy="36576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HMAC compare</a:t>
            </a:r>
            <a:endParaRPr lang="en-US" sz="1400" dirty="0"/>
          </a:p>
        </p:txBody>
      </p:sp>
      <p:sp>
        <p:nvSpPr>
          <p:cNvPr id="19" name="Text 17"/>
          <p:cNvSpPr/>
          <p:nvPr/>
        </p:nvSpPr>
        <p:spPr>
          <a:xfrm>
            <a:off x="6949440" y="3657600"/>
            <a:ext cx="4480560" cy="548640"/>
          </a:xfrm>
          <a:prstGeom prst="rect">
            <a:avLst/>
          </a:prstGeom>
          <a:noFill/>
          <a:ln/>
        </p:spPr>
        <p:txBody>
          <a:bodyPr wrap="square" rtlCol="0" anchor="ctr"/>
          <a:lstStyle/>
          <a:p>
            <a:pPr marL="0" indent="0">
              <a:lnSpc>
                <a:spcPct val="115000"/>
              </a:lnSpc>
              <a:buNone/>
            </a:pPr>
            <a:r>
              <a:rPr lang="en-US" sz="1200" dirty="0">
                <a:solidFill>
                  <a:srgbClr val="5B6B7A"/>
                </a:solidFill>
                <a:latin typeface="Calibri" pitchFamily="34" charset="0"/>
                <a:ea typeface="Calibri" pitchFamily="34" charset="-122"/>
                <a:cs typeface="Calibri" pitchFamily="34" charset="-120"/>
              </a:rPr>
              <a:t>Comparación segura de la API key</a:t>
            </a:r>
            <a:endParaRPr lang="en-US" sz="1200" dirty="0"/>
          </a:p>
        </p:txBody>
      </p:sp>
      <p:sp>
        <p:nvSpPr>
          <p:cNvPr id="20" name="Shape 18"/>
          <p:cNvSpPr/>
          <p:nvPr/>
        </p:nvSpPr>
        <p:spPr>
          <a:xfrm>
            <a:off x="640080" y="4937760"/>
            <a:ext cx="10881360" cy="1234440"/>
          </a:xfrm>
          <a:prstGeom prst="roundRect">
            <a:avLst>
              <a:gd name="adj" fmla="val 5926"/>
            </a:avLst>
          </a:prstGeom>
          <a:solidFill>
            <a:srgbClr val="F6F8FA"/>
          </a:solidFill>
          <a:ln/>
        </p:spPr>
        <p:txBody>
          <a:bodyPr/>
          <a:lstStyle/>
          <a:p>
            <a:endParaRPr lang="es-SV"/>
          </a:p>
        </p:txBody>
      </p:sp>
      <p:sp>
        <p:nvSpPr>
          <p:cNvPr id="21" name="Text 19"/>
          <p:cNvSpPr/>
          <p:nvPr/>
        </p:nvSpPr>
        <p:spPr>
          <a:xfrm>
            <a:off x="914400" y="5120640"/>
            <a:ext cx="10332720" cy="914400"/>
          </a:xfrm>
          <a:prstGeom prst="rect">
            <a:avLst/>
          </a:prstGeom>
          <a:noFill/>
          <a:ln/>
        </p:spPr>
        <p:txBody>
          <a:bodyPr wrap="square" rtlCol="0" anchor="ctr"/>
          <a:lstStyle/>
          <a:p>
            <a:pPr marL="0" indent="0">
              <a:lnSpc>
                <a:spcPct val="125000"/>
              </a:lnSpc>
              <a:buNone/>
            </a:pPr>
            <a:r>
              <a:rPr lang="en-US" sz="1350" b="1" dirty="0">
                <a:solidFill>
                  <a:srgbClr val="0B1F3A"/>
                </a:solidFill>
                <a:latin typeface="Calibri" pitchFamily="34" charset="0"/>
                <a:ea typeface="Calibri" pitchFamily="34" charset="-122"/>
                <a:cs typeface="Calibri" pitchFamily="34" charset="-120"/>
              </a:rPr>
              <a:t>Release y rollback:  </a:t>
            </a:r>
            <a:r>
              <a:rPr lang="en-US" sz="1350" dirty="0">
                <a:solidFill>
                  <a:srgbClr val="5B6B7A"/>
                </a:solidFill>
                <a:latin typeface="Calibri" pitchFamily="34" charset="0"/>
                <a:ea typeface="Calibri" pitchFamily="34" charset="-122"/>
                <a:cs typeface="Calibri" pitchFamily="34" charset="-120"/>
              </a:rPr>
              <a:t>el release demostrado queda etiquetado con un tag de Git (commit exacto trazable). Rollback = re-desplegar el commit anterior en Render.</a:t>
            </a:r>
            <a:endParaRPr lang="en-US" sz="1350" dirty="0"/>
          </a:p>
        </p:txBody>
      </p:sp>
      <p:sp>
        <p:nvSpPr>
          <p:cNvPr id="22" name="Shape 20"/>
          <p:cNvSpPr/>
          <p:nvPr/>
        </p:nvSpPr>
        <p:spPr>
          <a:xfrm>
            <a:off x="548640" y="6382512"/>
            <a:ext cx="128016" cy="128016"/>
          </a:xfrm>
          <a:prstGeom prst="ellipse">
            <a:avLst/>
          </a:prstGeom>
          <a:solidFill>
            <a:srgbClr val="E0A62E"/>
          </a:solidFill>
          <a:ln/>
        </p:spPr>
        <p:txBody>
          <a:bodyPr/>
          <a:lstStyle/>
          <a:p>
            <a:endParaRPr lang="es-SV"/>
          </a:p>
        </p:txBody>
      </p:sp>
      <p:sp>
        <p:nvSpPr>
          <p:cNvPr id="23" name="Text 21"/>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26" name="Text 18">
            <a:extLst>
              <a:ext uri="{FF2B5EF4-FFF2-40B4-BE49-F238E27FC236}">
                <a16:creationId xmlns:a16="http://schemas.microsoft.com/office/drawing/2014/main" id="{914F1CF4-BFF0-24AA-7F15-D3C4B0C034C0}"/>
              </a:ext>
            </a:extLst>
          </p:cNvPr>
          <p:cNvSpPr/>
          <p:nvPr/>
        </p:nvSpPr>
        <p:spPr>
          <a:xfrm>
            <a:off x="777239" y="6345936"/>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E0A62E"/>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548640" y="713232"/>
            <a:ext cx="10515600" cy="822960"/>
          </a:xfrm>
          <a:prstGeom prst="rect">
            <a:avLst/>
          </a:prstGeom>
          <a:noFill/>
          <a:ln/>
        </p:spPr>
        <p:txBody>
          <a:bodyPr wrap="square"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Lo que declaramos sin ocultar</a:t>
            </a:r>
            <a:endParaRPr lang="en-US" sz="3200" dirty="0"/>
          </a:p>
        </p:txBody>
      </p:sp>
      <p:sp>
        <p:nvSpPr>
          <p:cNvPr id="4" name="Shape 2"/>
          <p:cNvSpPr/>
          <p:nvPr/>
        </p:nvSpPr>
        <p:spPr>
          <a:xfrm>
            <a:off x="640080" y="1965960"/>
            <a:ext cx="10881360" cy="2286000"/>
          </a:xfrm>
          <a:prstGeom prst="roundRect">
            <a:avLst>
              <a:gd name="adj" fmla="val 4000"/>
            </a:avLst>
          </a:prstGeom>
          <a:solidFill>
            <a:srgbClr val="FFF6E3"/>
          </a:solidFill>
          <a:ln/>
        </p:spPr>
        <p:txBody>
          <a:bodyPr/>
          <a:lstStyle/>
          <a:p>
            <a:endParaRPr lang="es-SV"/>
          </a:p>
        </p:txBody>
      </p:sp>
      <p:sp>
        <p:nvSpPr>
          <p:cNvPr id="5" name="Shape 3"/>
          <p:cNvSpPr/>
          <p:nvPr/>
        </p:nvSpPr>
        <p:spPr>
          <a:xfrm>
            <a:off x="960120" y="2286000"/>
            <a:ext cx="640080" cy="640080"/>
          </a:xfrm>
          <a:prstGeom prst="ellipse">
            <a:avLst/>
          </a:prstGeom>
          <a:solidFill>
            <a:srgbClr val="E0A62E"/>
          </a:solidFill>
          <a:ln/>
        </p:spPr>
        <p:txBody>
          <a:bodyPr/>
          <a:lstStyle/>
          <a:p>
            <a:endParaRPr lang="es-SV"/>
          </a:p>
        </p:txBody>
      </p:sp>
      <p:sp>
        <p:nvSpPr>
          <p:cNvPr id="6" name="Text 4"/>
          <p:cNvSpPr/>
          <p:nvPr/>
        </p:nvSpPr>
        <p:spPr>
          <a:xfrm>
            <a:off x="960120" y="2286000"/>
            <a:ext cx="640080" cy="64008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1828800" y="2286000"/>
            <a:ext cx="9326880" cy="411480"/>
          </a:xfrm>
          <a:prstGeom prst="rect">
            <a:avLst/>
          </a:prstGeom>
          <a:noFill/>
          <a:ln/>
        </p:spPr>
        <p:txBody>
          <a:bodyPr wrap="square" rtlCol="0" anchor="ctr"/>
          <a:lstStyle/>
          <a:p>
            <a:pPr marL="0" indent="0">
              <a:buNone/>
            </a:pPr>
            <a:r>
              <a:rPr lang="en-US" sz="1600" b="1" dirty="0">
                <a:solidFill>
                  <a:srgbClr val="8A6B1E"/>
                </a:solidFill>
                <a:latin typeface="Calibri" pitchFamily="34" charset="0"/>
                <a:ea typeface="Calibri" pitchFamily="34" charset="-122"/>
                <a:cs typeface="Calibri" pitchFamily="34" charset="-120"/>
              </a:rPr>
              <a:t>No existe todavía un set de validación etiquetado</a:t>
            </a:r>
            <a:endParaRPr lang="en-US" sz="1600" dirty="0"/>
          </a:p>
        </p:txBody>
      </p:sp>
      <p:sp>
        <p:nvSpPr>
          <p:cNvPr id="8" name="Text 6"/>
          <p:cNvSpPr/>
          <p:nvPr/>
        </p:nvSpPr>
        <p:spPr>
          <a:xfrm>
            <a:off x="1828800" y="2743200"/>
            <a:ext cx="9326880" cy="1371600"/>
          </a:xfrm>
          <a:prstGeom prst="rect">
            <a:avLst/>
          </a:prstGeom>
          <a:noFill/>
          <a:ln/>
        </p:spPr>
        <p:txBody>
          <a:bodyPr wrap="square" rtlCol="0" anchor="ctr"/>
          <a:lstStyle/>
          <a:p>
            <a:pPr marL="0" indent="0">
              <a:lnSpc>
                <a:spcPct val="130000"/>
              </a:lnSpc>
              <a:buNone/>
            </a:pPr>
            <a:r>
              <a:rPr lang="en-US" sz="1350" dirty="0">
                <a:solidFill>
                  <a:srgbClr val="6B5416"/>
                </a:solidFill>
                <a:latin typeface="Calibri" pitchFamily="34" charset="0"/>
                <a:ea typeface="Calibri" pitchFamily="34" charset="-122"/>
                <a:cs typeface="Calibri" pitchFamily="34" charset="-120"/>
              </a:rPr>
              <a:t>para medir la precisión real de los modelos. Por eso el trabajo se enfocó en calibrar la confianza reportada (que baje cuando los modelos discrepan), no en publicar una cifra de accuracy sin evidencia detrás.</a:t>
            </a:r>
            <a:endParaRPr lang="en-US" sz="1350" dirty="0"/>
          </a:p>
        </p:txBody>
      </p:sp>
      <p:sp>
        <p:nvSpPr>
          <p:cNvPr id="9" name="Text 7"/>
          <p:cNvSpPr/>
          <p:nvPr/>
        </p:nvSpPr>
        <p:spPr>
          <a:xfrm>
            <a:off x="640080" y="4572000"/>
            <a:ext cx="7315200" cy="36576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El camino a futuro ya está construido:</a:t>
            </a:r>
            <a:endParaRPr lang="en-US" sz="1400" dirty="0"/>
          </a:p>
        </p:txBody>
      </p:sp>
      <p:sp>
        <p:nvSpPr>
          <p:cNvPr id="10" name="Text 8"/>
          <p:cNvSpPr/>
          <p:nvPr/>
        </p:nvSpPr>
        <p:spPr>
          <a:xfrm>
            <a:off x="640080" y="4983480"/>
            <a:ext cx="9875520" cy="640080"/>
          </a:xfrm>
          <a:prstGeom prst="rect">
            <a:avLst/>
          </a:prstGeom>
          <a:noFill/>
          <a:ln/>
        </p:spPr>
        <p:txBody>
          <a:bodyPr wrap="square" rtlCol="0" anchor="ctr"/>
          <a:lstStyle/>
          <a:p>
            <a:pPr marL="0" indent="0">
              <a:lnSpc>
                <a:spcPct val="125000"/>
              </a:lnSpc>
              <a:buNone/>
            </a:pPr>
            <a:r>
              <a:rPr lang="en-US" sz="1300" dirty="0">
                <a:solidFill>
                  <a:srgbClr val="5B6B7A"/>
                </a:solidFill>
                <a:latin typeface="Calibri" pitchFamily="34" charset="0"/>
                <a:ea typeface="Calibri" pitchFamily="34" charset="-122"/>
                <a:cs typeface="Calibri" pitchFamily="34" charset="-120"/>
              </a:rPr>
              <a:t>POST /feedback acumula correcciones reales de usuarios (URL hasheada, sin exponer navegación) — el dato que hoy falta para reentrenar con evidencia.</a:t>
            </a:r>
            <a:endParaRPr lang="en-US" sz="1300" dirty="0"/>
          </a:p>
        </p:txBody>
      </p:sp>
      <p:sp>
        <p:nvSpPr>
          <p:cNvPr id="11" name="Shape 9"/>
          <p:cNvSpPr/>
          <p:nvPr/>
        </p:nvSpPr>
        <p:spPr>
          <a:xfrm>
            <a:off x="548640" y="6382512"/>
            <a:ext cx="128016" cy="128016"/>
          </a:xfrm>
          <a:prstGeom prst="ellipse">
            <a:avLst/>
          </a:prstGeom>
          <a:solidFill>
            <a:srgbClr val="E0A62E"/>
          </a:solidFill>
          <a:ln/>
        </p:spPr>
        <p:txBody>
          <a:bodyPr/>
          <a:lstStyle/>
          <a:p>
            <a:endParaRPr lang="es-SV"/>
          </a:p>
        </p:txBody>
      </p:sp>
      <p:sp>
        <p:nvSpPr>
          <p:cNvPr id="12" name="Text 10"/>
          <p:cNvSpPr/>
          <p:nvPr/>
        </p:nvSpPr>
        <p:spPr>
          <a:xfrm>
            <a:off x="777240" y="6309360"/>
            <a:ext cx="2743200" cy="274320"/>
          </a:xfrm>
          <a:prstGeom prst="rect">
            <a:avLst/>
          </a:prstGeom>
          <a:noFill/>
          <a:ln/>
        </p:spPr>
        <p:txBody>
          <a:bodyPr wrap="square" rtlCol="0" anchor="ctr"/>
          <a:lstStyle/>
          <a:p>
            <a:pPr marL="0" indent="0">
              <a:buNone/>
            </a:pPr>
            <a:endParaRPr lang="en-US" sz="1100" dirty="0"/>
          </a:p>
        </p:txBody>
      </p:sp>
      <p:sp>
        <p:nvSpPr>
          <p:cNvPr id="14" name="Text 18">
            <a:extLst>
              <a:ext uri="{FF2B5EF4-FFF2-40B4-BE49-F238E27FC236}">
                <a16:creationId xmlns:a16="http://schemas.microsoft.com/office/drawing/2014/main" id="{F3278AD5-C04A-3135-7ED3-57E573FD5A16}"/>
              </a:ext>
            </a:extLst>
          </p:cNvPr>
          <p:cNvSpPr/>
          <p:nvPr/>
        </p:nvSpPr>
        <p:spPr>
          <a:xfrm>
            <a:off x="676656" y="6360374"/>
            <a:ext cx="6237171" cy="201168"/>
          </a:xfrm>
          <a:prstGeom prst="rect">
            <a:avLst/>
          </a:prstGeom>
          <a:noFill/>
          <a:ln/>
        </p:spPr>
        <p:txBody>
          <a:bodyPr wrap="square" rtlCol="0" anchor="ctr"/>
          <a:lstStyle/>
          <a:p>
            <a:pPr marL="0" indent="0">
              <a:buNone/>
            </a:pPr>
            <a:r>
              <a:rPr lang="en-US" sz="1100" b="1" dirty="0">
                <a:solidFill>
                  <a:srgbClr val="5B6B7A"/>
                </a:solidFill>
                <a:latin typeface="Calibri" pitchFamily="34" charset="0"/>
                <a:ea typeface="Calibri" pitchFamily="34" charset="-122"/>
                <a:cs typeface="Calibri" pitchFamily="34" charset="-120"/>
              </a:rPr>
              <a:t>UNIVERSIDAD GERARDO BARRIOS – PRE-ESPECIALIZACION – DESARROLLO DE APLICACIONES CON IA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236818" y="1508760"/>
            <a:ext cx="3657600" cy="3657600"/>
          </a:xfrm>
          <a:prstGeom prst="ellipse">
            <a:avLst/>
          </a:prstGeom>
          <a:ln w="25400">
            <a:solidFill>
              <a:srgbClr val="0F6B5C"/>
            </a:solidFill>
            <a:prstDash val="dash"/>
          </a:ln>
        </p:spPr>
        <p:txBody>
          <a:bodyPr/>
          <a:lstStyle/>
          <a:p>
            <a:endParaRPr lang="es-SV"/>
          </a:p>
        </p:txBody>
      </p:sp>
      <p:sp>
        <p:nvSpPr>
          <p:cNvPr id="3" name="Text 1"/>
          <p:cNvSpPr/>
          <p:nvPr/>
        </p:nvSpPr>
        <p:spPr>
          <a:xfrm>
            <a:off x="9288378" y="2560320"/>
            <a:ext cx="1554480" cy="1554480"/>
          </a:xfrm>
          <a:prstGeom prst="rect">
            <a:avLst/>
          </a:prstGeom>
          <a:noFill/>
          <a:ln/>
        </p:spPr>
        <p:txBody>
          <a:bodyPr wrap="square" rtlCol="0" anchor="ctr"/>
          <a:lstStyle/>
          <a:p>
            <a:pPr marL="0" indent="0" algn="ctr">
              <a:buNone/>
            </a:pPr>
            <a:r>
              <a:rPr lang="en-US" sz="5600" b="1" dirty="0">
                <a:solidFill>
                  <a:srgbClr val="2FA66A"/>
                </a:solidFill>
                <a:latin typeface="Calibri" pitchFamily="34" charset="0"/>
                <a:ea typeface="Calibri" pitchFamily="34" charset="-122"/>
                <a:cs typeface="Calibri" pitchFamily="34" charset="-120"/>
              </a:rPr>
              <a:t>▶</a:t>
            </a:r>
            <a:endParaRPr lang="en-US" sz="5600" dirty="0"/>
          </a:p>
        </p:txBody>
      </p:sp>
      <p:sp>
        <p:nvSpPr>
          <p:cNvPr id="4" name="Text 2"/>
          <p:cNvSpPr/>
          <p:nvPr/>
        </p:nvSpPr>
        <p:spPr>
          <a:xfrm>
            <a:off x="555858" y="2788920"/>
            <a:ext cx="7315200" cy="457200"/>
          </a:xfrm>
          <a:prstGeom prst="rect">
            <a:avLst/>
          </a:prstGeom>
          <a:noFill/>
          <a:ln/>
        </p:spPr>
        <p:txBody>
          <a:bodyPr wrap="square" rtlCol="0" anchor="ctr"/>
          <a:lstStyle/>
          <a:p>
            <a:pPr marL="0" indent="0">
              <a:buNone/>
            </a:pPr>
            <a:r>
              <a:rPr lang="en-US" sz="1400" b="1" kern="0" spc="200" dirty="0">
                <a:solidFill>
                  <a:srgbClr val="2FA66A"/>
                </a:solidFill>
                <a:latin typeface="Calibri" pitchFamily="34" charset="0"/>
                <a:ea typeface="Calibri" pitchFamily="34" charset="-122"/>
                <a:cs typeface="Calibri" pitchFamily="34" charset="-120"/>
              </a:rPr>
              <a:t>DEMOSTRACIÓN REAL</a:t>
            </a:r>
            <a:endParaRPr lang="en-US" sz="1400" dirty="0"/>
          </a:p>
        </p:txBody>
      </p:sp>
      <p:sp>
        <p:nvSpPr>
          <p:cNvPr id="5" name="Text 3"/>
          <p:cNvSpPr/>
          <p:nvPr/>
        </p:nvSpPr>
        <p:spPr>
          <a:xfrm>
            <a:off x="510138" y="3200400"/>
            <a:ext cx="73152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3 minutos, producto en vivo</a:t>
            </a:r>
            <a:endParaRPr lang="en-US" sz="3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820</Words>
  <Application>Microsoft Office PowerPoint</Application>
  <PresentationFormat>Panorámica</PresentationFormat>
  <Paragraphs>142</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Phishing Detector — Presentación final</dc:title>
  <dc:subject>PptxGenJS Presentation</dc:subject>
  <dc:creator>AI Phishing Detector — Equipo del proyecto</dc:creator>
  <cp:lastModifiedBy>Eskin Onan Montiel Hernández</cp:lastModifiedBy>
  <cp:revision>3</cp:revision>
  <dcterms:created xsi:type="dcterms:W3CDTF">2026-08-22T20:21:51Z</dcterms:created>
  <dcterms:modified xsi:type="dcterms:W3CDTF">2026-08-23T00:14:08Z</dcterms:modified>
</cp:coreProperties>
</file>